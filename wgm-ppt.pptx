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202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57" r:id="rId209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各位领导、同事上午好。今天用三个小时，讲清楚一件事——AI 怎么真正用在地质生产上。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内容分六块：先补一点 AI 基础，再重点讲我们自己的世界地质模型，然后是智能体、网络，最后落到怎么在我们单位建起来。中间安排两次休息。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前面两章回答"是什么"，中间两章回答"能干什么"，第五章回答"我们怎么干"。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新质生产力不是一句口号。它的实质，是让技术、数据这些新要素重新组合，带来更高的产出效率。放到我们地质行业，这句话有非常具体的落点。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质生产力对我们地质，就是三笔账。第一，原来靠老师傅经验的活儿，能不能变成模型辅助，判得更快更准、标准更统一；第二，原来用完就压箱底的资料，能不能变成能反复用的资产；第三，原来各干各的，能不能连成一条完整的流水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这三笔账背后其实是同一个东西——数据和智能。数据是原料，智能是引擎。而恰恰是在"智能"这一块，地质行业最缺，也最需要我们自己做。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请大家先想一个问题：现在你手机里、电脑上用的那些 AI，写材料、查资料挺好用；但它和你地质工作真正需要的 AI，是同一种东西吗？答案通常是否定的——这就引出了今天的主角。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今天的路线很清晰：先认识，再理解能力，最后落到行动。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这一章不追求技术深度，只求把几个关键概念讲明白，后面才好展开。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从地质统计，到机器学习，再到大模型，是一条"数据越来越会思考"的线索。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地质统计，就是用数学方法描述和推断地质数据。地质数据往往又少又散——几十个孔、几百个样品，却要回答"全区怎么分布""资源量多少"。它把少数观测变成对整区的概率判断，既给估计值，也给不确定度。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它干三件事：描述数据什么样，估计未知地方什么样，推断哪些地方异常。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优点是客观、可量化、有理论；局限也明显——很多假设要靠人定，遇到高维、非线性的复杂情况就吃力。这正是机器学习登场的地方。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机器学习，是让计算机自己从大量数据里找规律，再对没见过的数据做预测。和传统统计最大的不同，是不靠人去写规则，而是让数据"教"模型。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过程分三步：先拿历史数据训练，再用没参与训练的数据检验，最后对新数据做预测。就像带徒弟，先学、再考、再上岗。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最常见的监督学习，是有答案的——比如哪些是矿、哪些不是。没有答案的，叫无监督，用来找异常、做聚类。地质里用得最多的是前两类。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模型看什么，叫特征；学什么，叫标签。地质专家的经验，正好用在这里——选什么特征，往往决定模型的上限。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地质里已经有不少应用：圈定找矿靶区、识别岩性、解释测井，都属于这一类。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两者不是替代关系。统计讲得清楚、可解释；机器学习更擅长处理复杂、高维的数据。实际工作中往往是搭配使用。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有一句话必须记住：数据质量决定模型上限。样本太少、标注错了、分布偏了，模型再好也学不出来。所以搞 AI，第一道关不是算法，是数据。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模型有个常见毛病叫过拟合——把训练数据背下来了，一遇到新数据就失灵。我们要的不是"背书"，是"举一反三"。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大模型，是在海量文本上训练出来的通用模型，能写、能答、能归纳，知识面很广。但它不是专家系统，本质是"通用语言模型"。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它的背后是 Transformer 架构。这个架构让模型能并行处理、能记住长距离的关系，而且规模越大能力越强，这就是大模型爆发的原因。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用一句话解释它的核心机制——注意力。模型在回答时，会自动把注意力放到输入里最相关的部分，就像我们读句子时会抓关键词。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还有一个概念要记住——token。模型不认字，它把文本切成一个个小单位来处理，这叫 token。语言正是被切成了 token，模型才学会了懂人话。记住这个，第二章会用到。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大模型一般先"预训练"打底，再在专业数据上"微调"补课。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它一次能"看到"的内容有上限，叫上下文窗口。太长了会遗漏、会出错，所以处理大部头资料要注意。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日常能干的：写材料、做归纳、答问题、翻译。对我们最直接的，是辅助写通知、拟方案、整材料。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但它有三个明显短板：不懂专业、不懂空间、还会胡说。其中"不懂空间"，是对我们地质最要命的，第二章专门讲。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它会"一本正经地胡说"，这叫幻觉。写材料还无所谓，可地质结论一旦编错，代价很大。所以要靠"查了资料再说"和人工复核来兜底。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说白了，现在最现实的用法就是办公助手——省时、格式规范。但记住，结论一定要人把关。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所以一句话——通用的不等于专业的。地质需要的是懂地质、懂空间的专用能力，这就是 WGM 的出发点。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这一章记住三点：AI 是工具不是专家；数据质量决定上限；通用不等于专业。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请大家带着两个问题往下听：我们的数据家底怎么样？现在用的 AI，真的解决了地质问题吗？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第二章是今天的核心，讲我们自己的世界地质模型。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先讲"世界模型"这个概念，再讲大模型为什么不懂空间，然后是我们的空间索引 GeoSOT，最后是 WGM 怎么构建。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先说"世界模型"。简单讲，就是让 AI 在"心里"建立起一个世界的内部表示，能理解环境、预测变化。人做事前，脑子里先有一个世界的样子，机器也一样。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这个概念，国际上最有代表性的是李飞飞。她造了 ImageNet，这两年又提出"空间智能"。她说得很直接：语言大模型最大的短板，就是缺乏空间智能。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所谓空间智能，就是让 AI 真正理解、推理、操作三维空间。这是从"读文字"到"懂世界"的一跃。对我们地质，这是绝好的启示——因为地质本身就是三维空间问题。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目前通用的世界模型，主要是"生成"——凭空生成一个逼真的三维世界，用在游戏、机器人、仿真上。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这很有价值，但它生成的是"可能的世界"，不保证是真实的世界。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我们的 WGM 走的是另一条路——不是生成虚拟世界，而是"孪生"真实的地球，而且是包含地下的三维地质空间。它要求客观、可寻址、可验证。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打个比方：别人造的是"可能的世界"，我们建的是"真实的地球"。方向相通，但定位完全不同。地质只信真实——找矿错一处是浪费，灾害漏判一处是事故。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这其实就是"数字孪生地球"的思路。WGM 正是孪生数字地球的一个具体实现。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所以 WGM 的定位，是给地质空间做"统一的索引"和"智能的底座"。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记住这一句：世界模型有两条路，地质选"真实"那条。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现在讲关键问题——语言大模型的空间盲区。你问它"矿在哪、多深、多大"，它要么含糊，要么编。不是它笨，是它世界里只有文字，没有空间。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具体表现为三乱：位置说不清、关系算不对、尺度分不明。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原因回到第一章的 token。语言被切成了 token，所以模型懂话；可空间从没被切成 token，模型自然读不懂。就像一位博学的教授，却说不清"矿在哪、多深、多大"。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那怎么办？办法是——给空间也造一门"语言"，把连续的三维空间，变成模型能处理的 token。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具体做法，是把空间位置编码成有限、唯一、可组合的符号——就像给地球每个位置发一个门牌号。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语言 token 是一条线，空间 token 则是三维的、分层的、可寻址的。但本质是一样的：都是模型"思考"的基本单位。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这里有个关键区别。外挂，是在模型外面挂个查询工具，模型本身还是不懂空间；原生，是让空间 token 直接进模型，模型内部就用空间思考。我们选原生。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一句话记牢：通用模型懂"话"，WGM 还要懂"地方"。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上半场讲完了"为什么"，休息十分钟，回来讲"怎么做"。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回来接着讲。给空间造语言，我们用的工具叫 GeoSOT——一套地球空间的剖分网格标准，把地球切成规则的小格子并统一编码。可以理解成地球的"邮政编码系统"。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它由北京大学提出，国家标准是 GB/T 40087–2021《地球空间网格编码规则》。我们在它的基础上做了三维扩展，叫 GeoSOT-3D。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它把地球按经纬度规则切成网格，每一格有唯一编码，还能从全球一直细分到局部。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这些网格是分层的，上面粗、下面细，一个格子可以往下继续分。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所谓"编码"，就是把经纬度或平面直角坐标，算成一个 GeoSOT 体素 ID——好比知道位置，编出门牌号。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举例来说：给一个点的经纬度，系统逐级定位，最后输出一个唯一的体素编号。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反过来，"解码"就是给一个编号，反算出它的位置。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这一对操作的价值在于：位置和编号能双向无损互转，所以空间变得"可寻址"——AI 能精确指到某个位置。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这些三维小格子叫"体素"。就像像素组成图片，体素组成三维地球，每个都带唯一编号。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体素之间还能算邻接、包含、距离——这意味着 AI 能做空间关系的推理。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为了能按需细分，我们用"3D 八叉树"——每个立方体一分为八，再往下分，形成树状结构。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就像树枝分叉：哪里需要精细，就多分几层；哪里简单，就少分。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这样一套结构，同时支持从全局概览到局部精查的多个尺度。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最关键的是——它能把"地下"表达出来。传统网格多在地表，八叉树是三维的，能表达深度，钻孔、矿体、构造都能装进去。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从全国尺度到局部矿区，用同一套编码就能无缝切换。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和传统 GIS 网格比，我们的方案是三维的、包含地下、层次自适应的，更贴合地质。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一句话：GeoSOT 给地球编地址，八叉树让它三维、多尺度——这就是 WGM 的空间骨架。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到这里可以正式定义 WGM 了。它是"世界地质模型"，不是聊天大模型。它基于 GeoSOT-3D，原生地掌握空间的编码、解码和推理。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它的核心能力就三项：编码、解码，以及在此之上的空间推理。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强调"原生"——空间不是外挂的接口，而是模型的输入输出单位。通用模型把空间当文字读，WGM 把空间当 token 思考。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技术上，这是我们自研、从头训练的空间原生模型，而不是去借用现成的聊天大模型。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为什么非得自己训？因为现成的聊天大模型根本没有空间 token，改也改不出原生空间能力，只能从头把空间"长进"模型里。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而且这样做还有一个战略意义：自主可控，数据不出域。地质数据很多是敏感的、涉密的，本地自研模型能让数据不出门，这对我们是硬要求。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它的能力清单包括空间编解码、空间推理问答，以及和地质数据、智能体的对接。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再对比一遍：聊天大模型懂话但不懂空间；WGM 是懂三维地质空间的模型。一句话——WGM 不是"会聊天的 AI"，是"懂地质空间的模型"。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技术上分三层：底层是 GeoSOT-3D 和八叉树，中间是空间原生模型，上面接智能体和数据仓库。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 WGM v2 已经上线运行：有全球可视化、有知识库、有工作区、有智能体，智能体已经能产图、能下钻查看。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当然也有局限——数据覆盖、精度、算力都还有约束。把边界讲清楚，才更可信。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小结一下：WGM 等于"索引框架 + 空间原生模型"，这是从"借别人的 AI"到"拥有自己的 AI"的转变。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整个第二章一句话：WGM 就是"真实地球的空间智能"。有了会空间语言的模型，下一步就是让它干活——进入第三章。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留两个问题给大家：我们的数据能不能统一到一套索引？"数据不出域"对保密工作意味着什么？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有了 WGM 这个会空间语言的模型，第三章讲怎么让它真正干活。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先讲智能体能干什么，再讲怎么让它"有据可查"，最后讲数据家底。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智能体，就是以模型为大脑、能自己调用工具去完成任务的系统。它不只动嘴，还会动手。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聊天 AI 只会"答"；智能体能"干"——检索、分析、出图、写报告、辅助决策。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它由三块组成：大脑是 WGM，记忆是数据仓库和知识库，工具是计算、制图、检索这些能力。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能力上覆盖：查资料、做分析、出图写报告、辅助操作业务系统。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想象一个地质助手的一天：早上汇总数据出简报，中午按你的问题查资料、做分析、出图，晚上起草报告、整理归档。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和普通问答比，智能体是多步的、接了数据的、有工具的，而且过程可追溯。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一句话：智能体等于大模型加数据加工具，它把"智能"变成了"生产力"。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但智能体要能干活，前提是别瞎编。所以要有 RAG——先查资料，再回答。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在办公里幻觉无所谓，在地质里可能编出根本不存在的矿点、错误数据，后果严重。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 的原理是：拿问题去知识库里检索相关资料，再让模型基于这些真实资料组织答案，答案可溯源。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检索这一步，是把问题转成向量，去找语义最相近的资料片段——不是死抠字眼，而是找意思相近的。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生成这一步，是把查到的资料作为上下文交给模型，让它据此作答，并附上来源，方便核对。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我们的知识库用"语义聚类树"来组织，逐层缩小范围，检索又快又准。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构建流程是：资料入库、切分、向量化、建语义聚类树，最后开放检索接口。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关键是它本地化部署，全在内网跑，不依赖外部云。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这样涉密、敏感的地质资料就不出域，满足保密要求。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检索质量取决于资料质量、切分策略和层级设计。一句话：好资料才有好答案。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小结：RAG 让回答有据可查，我们的 JevRAG 是本地化的、基于语义聚类树的 RAG。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智能体的"口粮"是数据。数据仓库，就是把分散、格式各异的地质数据集中起来、规范化，变成能用的存储体系。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第一步是盘家底：我们到底有哪些数据、存在哪、什么格式；再把纸质、图纸、老资料数字化入库。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然后是数据治理：统一标准、清洗、去重、标注，并建立更新机制。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还要统一数据结构和字段，并和 GeoSOT 空间索引挂接起来。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请记住：没有数据，智能体无米下炊；数据越好，智能体越强。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数据仓库是底层的资产，RAG 是在它之上做检索和问答。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建数据资产五步走：盘点、治理、入库、挂接索引、持续更新。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一句话：先有数据资产，才有智能体。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第三章小结：智能体等于 WGM 加 JevRAG 加数据仓库，完成了从"会答"到"会干"。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对我们来说，第一步是先盘家底，再建知识库，然后才谈智能体。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可以想一想：我们哪块业务最适合先上智能体？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留一个问题：你最想先让智能体替你干哪件事？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第四章讲怎么把一个个智能体连成一张网。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三件事：统一底座、能力集成、开发底座。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Pange 是一个统一平台，把数据、模型、应用、智能体整合到一起，让它们互通、协同。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可以把它理解成地质智能应用的"操作系统"——统一入口、统一调度、统一治理。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架构分三层：底层是数据和空间索引，中间是 WGM 和智能体，上层是业务应用。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核心模块包括数据接入、智能体编排、工具市场、权限与安全。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它要解决的，就是各自为战、重复建设的问题，让能力能复用、能组合。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一句话：Pange 是智能应用的统一底座。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 WGM 的空间能力封装成标准接口，供上面的智能体和应用统一调用。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用统一的接口规范，屏蔽底层差异，方便对接和扩展。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新能力像积木一样插进来、换出去，不影响整体。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多个能力还能编排成业务流程，比如检索、分析、出图、成文一气呵成。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比如，一键完成"查资料、做空间分析、出报告"。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记住：能力可插拔、可组合。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开发底座，是给大家快速搭建地质 AI 应用的平台，提供开发工具、组件和模板。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基于接口做二次开发，可以用低代码，也可以写代码。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我们会提供开发套件和调试工具，降低门槛、加快交付。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能开发什么应用？找矿靶区圈定、灾害监测、报告生成等等。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这样公共能力统一沉淀，各单位只做自己的增量。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一句话：开发底座让应用造得快、造得起。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第四章小结：网络把数据、模型、应用、智能体连成了一体。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它的价值在于：从单点智能走向全局协同，能力复用、数据共享、流程贯通。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单兵作战就是各自系统、数据孤岛；协同作战则是统一底座、能力共享。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对我们意味着：避免重复建设、减少投入，一次建设、多单位受益。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开放接口后，能吸引更多应用接入，慢慢形成地质 AI 的生态。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留两个问题：我们的系统能不能接入统一底座？哪些能力最值得先沉淀？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最后一章，也是大家最关心的：我们到底怎么建、花多少、从哪起步。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分四块：目标、覆盖范围、方案与预算、案例与研讨。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先看愿景：我们要建成自主可控的地质智能能力，实现数据资产化、作业智能化、决策科学化。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近期目标：打通数据，搭起 WGM 和智能体的试点，先选一到两个场景做出来。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中期目标：把场景推广开，能力覆盖主要业务，形成数据到应用到闭环。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衡量成效要有指标：效率、质量、覆盖，三个维度。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能落地的场景有六大类，下面逐一过一遍。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第一类，找矿预测。痛点是判读慢、太依赖经验；做法是用物化探数据加机器学习圈定靶区。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实施路径是：数据准备、特征构建、模型训练、输出靶区，最后由专家复核验证。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第二类，地质灾害。隐患点多、靠人监测、预警滞后；可以用遥感加变化检测自动识别。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路径是：接入数据、变化检测、识别隐患、推送预警，再人工复核。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第三类，测井解释。原来依赖专家、效率低；现在可以自动解释岩性和储层。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第四类，遥感解译。影像量大、人工慢；可以让 AI 自动提取岩性、构造、蚀变。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第五类，报告与公文。材料多、写得累；可以模板加资料自动成稿，人工润色。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第六类，资料管理。资料散、检索难；可以数字化加知识库加智能检索。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按价值乘难度排序，建议先做资料管理和报告公文——门槛低、见效快。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总体路径三步：试点、推广、全域。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试点阶段，目标是把可行性验证出来、闭环跑通，选一个场景一个团队，周期大约三到六个月。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推广阶段，把成功的经验复制到多场景、多单位，周期大约六到十二个月。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全域阶段，实现全面覆盖、常态化运行。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组织上要组专班，业务、技术、数据一起上，并培养懂地质又懂 AI 的复合人才。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合作模式上，自建自主可控但慢，共建见效快但依赖外部。建议核心自建、外围共建。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数据准备要早投入，这是前提。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算力可以按需自建或租用，训练和推理的算力、存储都要规划。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预算主要花在六块：数据、模型、平台、算力、人才、运维。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预算不报死数字，按阶段给区间，强调小步快跑、分期投入。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周期上，按试点、推广、全域分步推进。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主要风险有：数据不足、效果不达预期、投入超支、人才流失、安全合规。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对策是：小切口验证、分期投入、安全内控、培养人才。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成效评估要有量化指标、定期评，标准只有一条：是否解决了实际问题。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看一个真实案例。这是我们自主做的湖山铀矿三维可视化成矿预测系统。它把地质、物探、钻探等多源数据，用 GeoSOT-3D 统一到三维体素，叠加成矿证据，用证据权、logistic、PINN 等方法算出成矿概率体，圈定靶区并自动出报告。成效是成矿预测与建模效率显著提升。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第二类应用，是让 AI 替代传统遥感人工解译。一个方向是自动提取矿化蚀变异常，另一个方向是自动提取地质灾害参数。两条线并行推进，能大幅减少人工。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第三个还处于展望阶段：把历史资料数字化、建本地知识库，让智能体帮忙查资料、起草报告。这是下一步可以做的方向。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建议从一个小切口开始：数据现成、痛点明确、见效快的场景，先跑通，再谈规模。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下面进入研讨，围绕三个问题：有哪些数据、哪个场景先做、谁来做、多久见效。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我们准备了几个问题，引导大家聚焦讨论。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请大家按业务分组，围绕场景和优先级讨论。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每组最后产出一个试点场景和初步方案。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落地就三样：一件事、一个负责人、一个时间表。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成功的关键：一把手重视、数据到位、小步快跑、人才保障。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要避免几个误区：贪大求全、重技术轻数据、只买不管、急于求成。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请大家明确近期要做的三件事。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责任要分清：领导、业务、技术、数据各司其职。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按近期、中期排好里程碑。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资源上，把人、财、物、数据、算力列成清单。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最后要有组织、制度、安全、经费的保障。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第五章一句话：小切口试点、分步走，别贪大。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留一个问题：我们单位的第一件事，从哪开始？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回顾今天：从 AI 基础，到 WGM，到智能体，到网络，最后到建设方案。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三句话总结：AI 是工具，数据是基础，空间是关键；地质需要有自己的智能。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往远看，AI 正从工具走向智能体，走向通用智能。地质的远景，是能自主完成感知、推理、预测、决策的地质智能。WGM 是通向它的一步。但也要清醒：超级智能是方向，不是当下，现阶段仍靠人机协同、人工把关。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最后送大家一句话：AI 不缺共识，缺的是路径；地质，需要属于自己的智能。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行动上，就从一件事、一个场景开始。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需要的关键资源：数据、模型、平台、人才、合作，都列在这里。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下面是答疑时间，欢迎提问。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这是我们的联系方式，欢迎会后交流。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break_countdown.gif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3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4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5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8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9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3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5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6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0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3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4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5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6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8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9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0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1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break_countdown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01168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AI 在地质学中的应用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3611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9D4E8"/>
                </a:solidFill>
                <a:latin typeface="微软雅黑"/>
                <a:ea typeface="微软雅黑"/>
              </a:rPr>
              <a:t>从新质生产力到世界地质模型 WGM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课程说明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开场：地质学如何提升新质生产力（P1–8）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3 小时 / 六个部分 / 两次休息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内容分六块：先补一点 AI 基础，再重点讲我们自己的世界地质模型，然后是智能体、网络，最后落到怎么在我们单位建起来。中间安排两次休息。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时间轴（8 / 20 / 38 / 22 / 18 / 44 / 10）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开场：地质学如何提升新质生产力（P1–8）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371600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12801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开场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554480"/>
            <a:ext cx="1371600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1581912"/>
            <a:ext cx="12801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第一章 AI 基础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1554480"/>
            <a:ext cx="1371600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1581912"/>
            <a:ext cx="12801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第二章 WGM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59" y="1554480"/>
            <a:ext cx="1371600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79" y="1581912"/>
            <a:ext cx="12801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第三章 智能体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1554480"/>
            <a:ext cx="1371600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59" y="1581912"/>
            <a:ext cx="12801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第四章 智能体网络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1554480"/>
            <a:ext cx="1371600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1581912"/>
            <a:ext cx="12801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第五章 建设方案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1554480"/>
            <a:ext cx="1371600" cy="56692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04120" y="1581912"/>
            <a:ext cx="12801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709160"/>
            <a:ext cx="10762488" cy="160020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855464"/>
            <a:ext cx="64008" cy="130759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800600"/>
            <a:ext cx="10305288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前面两章回答"是什么"，中间两章回答"能干什么"，第五章回答"我们怎么干"。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新质生产力：为什么现在提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开场：地质学如何提升新质生产力（P1–8）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新质生产力：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以科技创新为主导、以数据等新要素驱动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背景：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数字中国、智能化转型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新质生产力不是一句口号。它的实质，是让技术、数据这些新要素重新组合，带来更高的产出效率。放到我们地质行业，这句话有非常具体的落点。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政策关键词 + 时间线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对地质行业的三笔账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开场：地质学如何提升新质生产力（P1–8）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经验→模型（判读更快更准更一致）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资料→资产（可沉淀可复用）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单干→协同（全流程闭环）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新质生产力对我们地质，就是三笔账。第一，原来靠老师傅经验的活儿，能不能变成模型辅助，判得更快更准、标准更统一；第二，原来用完就压箱底的资料，能不能变成能反复用的资产；第三，原来各干各的，能不能连成一条完整的流水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1383792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经验 → 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919984"/>
            <a:ext cx="4736592" cy="1383792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资料 → 资产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4468368"/>
            <a:ext cx="4736592" cy="1383792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单干 → 协同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三笔账的底座：数据与智能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开场：地质学如何提升新质生产力（P1–8）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三笔账的共同底座：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数据 + 智能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数据是原料，智能是引擎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这三笔账背后其实是同一个东西——数据和智能。数据是原料，智能是引擎。而恰恰是在"智能"这一块，地质行业最缺，也最需要我们自己做。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数据 → 智能 → 生产力 的传导链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一个真问题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开场：地质学如何提升新质生产力（P1–8）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31136"/>
            <a:ext cx="5806440" cy="12070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你现在用的 AI（聊天、写公文）：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地质工作需要的 AI 吗？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438144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584448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29584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请大家先想一个问题：现在你手机里、电脑上用的那些 AI，写材料、查资料挺好用；但它和你地质工作真正需要的 AI，是同一种东西吗？答案通常是否定的——这就引出了今天的主角。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对话气泡 vs 三维地质体，中间一个问号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本课路线图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开场：地质学如何提升新质生产力（P1–8）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一、二章：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认识（是什么）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三、四章：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智能体与网络（能干什么）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五章：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建设方案（怎么干）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今天的路线很清晰：先认识，再理解能力，最后落到行动。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五章路线图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56816"/>
            <a:ext cx="12191695" cy="54864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1F3864"/>
                </a:solidFill>
                <a:latin typeface="微软雅黑"/>
                <a:ea typeface="微软雅黑"/>
              </a:rPr>
              <a:t>从数据到智能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48132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5A5A5A"/>
                </a:solidFill>
                <a:latin typeface="微软雅黑"/>
                <a:ea typeface="微软雅黑"/>
              </a:rPr>
              <a:t>用二十分钟，把 AI 的地基讲清楚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743200"/>
            <a:ext cx="10762488" cy="29260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2889504"/>
            <a:ext cx="64008" cy="263347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34640"/>
            <a:ext cx="10305288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这一章不追求技术深度，只求把几个关键概念讲明白，后面才好展开。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本章导览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第一章 从数据到智能：AI 基础知识（P9–34）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44239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335279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1.1 地质统计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8640" y="1554480"/>
            <a:ext cx="3444239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4360" y="1581912"/>
            <a:ext cx="335279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1.2 机器学习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85759" y="1554480"/>
            <a:ext cx="3444239" cy="56692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1480" y="1581912"/>
            <a:ext cx="335279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1.3 通用大模型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709160"/>
            <a:ext cx="10762488" cy="160020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4855464"/>
            <a:ext cx="64008" cy="130759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800600"/>
            <a:ext cx="10305288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从地质统计，到机器学习，再到大模型，是一条"数据越来越会思考"的线索。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1.1 什么是地质统计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第一章 从数据到智能：AI 基础知识（P9–34）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用数学方法描述和推断地质数据的分布与规律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对象：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元素/品位/物化探/钻孔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地质统计，就是用数学方法描述和推断地质数据。地质数据往往又少又散——几十个孔、几百个样品，却要回答"全区怎么分布""资源量多少"。它把少数观测变成对整区的概率判断，既给估计值，也给不确定度。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离散数据点 → 概率分布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地质统计的典型任务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第一章 从数据到智能：AI 基础知识（P9–34）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71115"/>
            <a:ext cx="10698480" cy="175564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• 描述（均值/方差/分布）</a:t>
            </a:r>
          </a:p>
          <a:p>
            <a:pPr>
              <a:spcAft>
                <a:spcPts val="900"/>
              </a:spcAft>
            </a:pP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• 估计（克里金插值、资源量）</a:t>
            </a:r>
          </a:p>
          <a:p>
            <a:pPr>
              <a:spcAft>
                <a:spcPts val="900"/>
              </a:spcAft>
            </a:pP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• 推断（置信区间、异常圈定）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872483"/>
            <a:ext cx="10762488" cy="164592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4018787"/>
            <a:ext cx="64008" cy="135331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963923"/>
            <a:ext cx="10305288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它干三件事：描述数据什么样，估计未知地方什么样，推断哪些地方异常。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地质统计的价值与局限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第一章 从数据到智能：AI 基础知识（P9–34）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18003"/>
            <a:ext cx="10698480" cy="12618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1" i="0">
                <a:solidFill>
                  <a:srgbClr val="1F3864"/>
                </a:solidFill>
                <a:latin typeface="微软雅黑"/>
                <a:ea typeface="微软雅黑"/>
              </a:rPr>
              <a:t>• 价值：</a:t>
            </a: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客观可量化</a:t>
            </a:r>
          </a:p>
          <a:p>
            <a:pPr>
              <a:spcAft>
                <a:spcPts val="900"/>
              </a:spcAft>
            </a:pPr>
            <a:r>
              <a:rPr sz="1900" b="1" i="0">
                <a:solidFill>
                  <a:srgbClr val="1F3864"/>
                </a:solidFill>
                <a:latin typeface="微软雅黑"/>
                <a:ea typeface="微软雅黑"/>
              </a:rPr>
              <a:t>• 局限：</a:t>
            </a: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依赖人工假设、难处理高维非线性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625596"/>
            <a:ext cx="10762488" cy="164592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771900"/>
            <a:ext cx="64008" cy="135331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717035"/>
            <a:ext cx="10305288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优点是客观、可量化、有理论；局限也明显——很多假设要靠人定，遇到高维、非线性的复杂情况就吃力。这正是机器学习登场的地方。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1.2 什么是机器学习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第一章 从数据到智能：AI 基础知识（P9–34）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让计算机从数据中自动学习规律并对新数据预测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与统计的区别：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靠数据自学，不靠人写规则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机器学习，是让计算机自己从大量数据里找规律，再对没见过的数据做预测。和传统统计最大的不同，是不靠人去写规则，而是让数据"教"模型。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输入 → 模型 → 预测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机器学习的"学习"过程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第一章 从数据到智能：AI 基础知识（P9–34）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31136"/>
            <a:ext cx="5806440" cy="12070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训练（用历史数据调参）→ 验证（用未见数据检验）→ 预测（对新数据出结果）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438144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584448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29584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过程分三步：先拿历史数据训练，再用没参与训练的数据检验，最后对新数据做预测。就像带徒弟，先学、再考、再上岗。</a:t>
            </a:r>
          </a:p>
        </p:txBody>
      </p:sp>
      <p:sp>
        <p:nvSpPr>
          <p:cNvPr id="10" name="Chevron 9"/>
          <p:cNvSpPr/>
          <p:nvPr/>
        </p:nvSpPr>
        <p:spPr>
          <a:xfrm>
            <a:off x="6720840" y="3108960"/>
            <a:ext cx="1548384" cy="1005840"/>
          </a:xfrm>
          <a:prstGeom prst="chevron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训练</a:t>
            </a:r>
          </a:p>
        </p:txBody>
      </p:sp>
      <p:sp>
        <p:nvSpPr>
          <p:cNvPr id="11" name="Chevron 10"/>
          <p:cNvSpPr/>
          <p:nvPr/>
        </p:nvSpPr>
        <p:spPr>
          <a:xfrm>
            <a:off x="8314944" y="3108960"/>
            <a:ext cx="1548384" cy="1005840"/>
          </a:xfrm>
          <a:prstGeom prst="chevron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验证</a:t>
            </a:r>
          </a:p>
        </p:txBody>
      </p:sp>
      <p:sp>
        <p:nvSpPr>
          <p:cNvPr id="12" name="Chevron 11"/>
          <p:cNvSpPr/>
          <p:nvPr/>
        </p:nvSpPr>
        <p:spPr>
          <a:xfrm>
            <a:off x="9909048" y="3108960"/>
            <a:ext cx="1548384" cy="1005840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预测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三类学习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第一章 从数据到智能：AI 基础知识（P9–34）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监督学习（有标签，如已知矿/非矿）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无监督（聚类、异常检测）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强化学习（试错，地质少用）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最常见的监督学习，是有答案的——比如哪些是矿、哪些不是。没有答案的，叫无监督，用来找异常、做聚类。地质里用得最多的是前两类。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1395984"/>
          </a:xfrm>
          <a:prstGeom prst="round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499616"/>
            <a:ext cx="4279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监督学习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901952"/>
            <a:ext cx="4279392" cy="774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</a:rPr>
              <a:t>有标签：如已知矿 / 非矿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2913888"/>
            <a:ext cx="4736592" cy="1395984"/>
          </a:xfrm>
          <a:prstGeom prst="round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3041904"/>
            <a:ext cx="4279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无监督学习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444240"/>
            <a:ext cx="4279392" cy="774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</a:rPr>
              <a:t>无标签：聚类、异常检测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456176"/>
            <a:ext cx="4736592" cy="1395984"/>
          </a:xfrm>
          <a:prstGeom prst="round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4584191"/>
            <a:ext cx="4279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强化学习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986528"/>
            <a:ext cx="4279392" cy="774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</a:rPr>
              <a:t>试错交互，地质少用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特征与标签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第一章 从数据到智能：AI 基础知识（P9–34）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71115"/>
            <a:ext cx="10698480" cy="175564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1" i="0">
                <a:solidFill>
                  <a:srgbClr val="1F3864"/>
                </a:solidFill>
                <a:latin typeface="微软雅黑"/>
                <a:ea typeface="微软雅黑"/>
              </a:rPr>
              <a:t>• 特征：</a:t>
            </a: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模型看什么（物化探、遥感）</a:t>
            </a:r>
          </a:p>
          <a:p>
            <a:pPr>
              <a:spcAft>
                <a:spcPts val="900"/>
              </a:spcAft>
            </a:pPr>
            <a:r>
              <a:rPr sz="1900" b="1" i="0">
                <a:solidFill>
                  <a:srgbClr val="1F3864"/>
                </a:solidFill>
                <a:latin typeface="微软雅黑"/>
                <a:ea typeface="微软雅黑"/>
              </a:rPr>
              <a:t>• 标签：</a:t>
            </a: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模型学什么（岩性、品位）</a:t>
            </a:r>
          </a:p>
          <a:p>
            <a:pPr>
              <a:spcAft>
                <a:spcPts val="900"/>
              </a:spcAft>
            </a:pPr>
            <a:r>
              <a:rPr sz="1900" b="1" i="0">
                <a:solidFill>
                  <a:srgbClr val="1F3864"/>
                </a:solidFill>
                <a:latin typeface="微软雅黑"/>
                <a:ea typeface="微软雅黑"/>
              </a:rPr>
              <a:t>• 特征工程：</a:t>
            </a: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地质先验的用武之地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872483"/>
            <a:ext cx="10762488" cy="164592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4018787"/>
            <a:ext cx="64008" cy="135331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963923"/>
            <a:ext cx="10305288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模型看什么，叫特征；学什么，叫标签。地质专家的经验，正好用在这里——选什么特征，往往决定模型的上限。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地质中的机器学习应用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第一章 从数据到智能：AI 基础知识（P9–34）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找矿预测（圈靶区）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岩性识别（遥感/钻探）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测井解释（储层/含油气性）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地质里已经有不少应用：圈定找矿靶区、识别岩性、解释测井，都属于这一类。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四类应用图标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机器学习 vs 传统统计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第一章 从数据到智能：AI 基础知识（P9–34）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02352" cy="1645920"/>
          </a:xfrm>
          <a:prstGeom prst="round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36192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传统统计：</a:t>
            </a: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</a:rPr>
              <a:t>人写规则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280160"/>
            <a:ext cx="5102352" cy="1645920"/>
          </a:xfrm>
          <a:prstGeom prst="round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36192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机器学习：</a:t>
            </a: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</a:rPr>
              <a:t>数据自学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90672"/>
            <a:ext cx="10744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B78A2E"/>
                </a:solidFill>
                <a:latin typeface="微软雅黑"/>
                <a:ea typeface="微软雅黑"/>
              </a:rPr>
              <a:t>互补=统计可解释、机器擅长高维非线性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709160"/>
            <a:ext cx="10762488" cy="160020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4855464"/>
            <a:ext cx="64008" cy="130759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800600"/>
            <a:ext cx="10305288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两者不是替代关系。统计讲得清楚、可解释；机器学习更擅长处理复杂、高维的数据。实际工作中往往是搭配使用。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数据质量决定上限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第一章 从数据到智能：AI 基础知识（P9–34）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规律藏在数据里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常见问题：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样本少、标注错、分布偏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AI 第一道关是数据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有一句话必须记住：数据质量决定模型上限。样本太少、标注错了、分布偏了，模型再好也学不出来。所以搞 AI，第一道关不是算法，是数据。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垃圾进 → 垃圾出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过拟合：模型为什么"死记硬背"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第一章 从数据到智能：AI 基础知识（P9–34）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过拟合：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背下训练数据、遇到新数据失灵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泛化：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举一反三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应对：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更多数据、正则、交叉验证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模型有个常见毛病叫过拟合——把训练数据背下来了，一遇到新数据就失灵。我们要的不是"背书"，是"举一反三"。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过拟合 vs 泛化 曲线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1.3 什么是大模型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第一章 从数据到智能：AI 基础知识（P9–34）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海量文本训练出的、参数规模巨大的通用模型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能写、能答、能归纳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大模型，是在海量文本上训练出来的通用模型，能写、能答、能归纳，知识面很广。但它不是专家系统，本质是"通用语言模型"。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规模对比柱状图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Transformer：一次架构革命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第一章 从数据到智能：AI 基础知识（P9–34）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2020 年前后 Transformer 带来质变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核心：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并行处理、长距离依赖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规模越大能力越强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它的背后是 Transformer 架构。这个架构让模型能并行处理、能记住长距离的关系，而且规模越大能力越强，这就是大模型爆发的原因。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简化架构示意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注意力机制（科普）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第一章 从数据到智能：AI 基础知识（P9–34）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模型回答时会"关注"输入里最相关的部分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类比：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读句子自动抓关键词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用一句话解释它的核心机制——注意力。模型在回答时，会自动把注意力放到输入里最相关的部分，就像我们读句子时会抓关键词。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注意力热力图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token：语言的原子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第一章 从数据到智能：AI 基础知识（P9–34）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token：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把文本拆成的最小单位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模型读的是 token 序列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语言被 token 化，模型才懂话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还有一个概念要记住——token。模型不认字，它把文本切成一个个小单位来处理，这叫 token。语言正是被切成了 token，模型才学会了懂人话。记住这个，第二章会用到。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一句话被切成若干 token 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预训练与微调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第一章 从数据到智能：AI 基础知识（P9–34）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预训练：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海量通用文本打底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微调：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专业数据补课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大模型一般先"预训练"打底，再在专业数据上"微调"补课。</a:t>
            </a:r>
          </a:p>
        </p:txBody>
      </p:sp>
      <p:sp>
        <p:nvSpPr>
          <p:cNvPr id="10" name="Chevron 9"/>
          <p:cNvSpPr/>
          <p:nvPr/>
        </p:nvSpPr>
        <p:spPr>
          <a:xfrm>
            <a:off x="6720840" y="3108960"/>
            <a:ext cx="2345436" cy="1005840"/>
          </a:xfrm>
          <a:prstGeom prst="chevron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预训练</a:t>
            </a:r>
          </a:p>
        </p:txBody>
      </p:sp>
      <p:sp>
        <p:nvSpPr>
          <p:cNvPr id="11" name="Chevron 10"/>
          <p:cNvSpPr/>
          <p:nvPr/>
        </p:nvSpPr>
        <p:spPr>
          <a:xfrm>
            <a:off x="9111996" y="3108960"/>
            <a:ext cx="2345436" cy="1005840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微调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上下文窗口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第一章 从数据到智能：AI 基础知识（P9–34）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模型一次能"看到"的 token 数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太长会遗忘、出错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它一次能"看到"的内容有上限，叫上下文窗口。太长了会遗漏、会出错，所以处理大部头资料要注意。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窗口大小示意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大模型能做什么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第一章 从数据到智能：AI 基础知识（P9–34）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写作、归纳、问答、翻译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办公辅助：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摘要、润色、成稿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日常能干的：写材料、做归纳、答问题、翻译。对我们最直接的，是辅助写通知、拟方案、整材料。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多场景图标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大模型的三个短板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第一章 从数据到智能：AI 基础知识（P9–34）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不懂专业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不懂空间（重点）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会胡说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但它有三个明显短板：不懂专业、不懂空间、还会胡说。其中"不懂空间"，是对我们地质最要命的，第二章专门讲。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三个警示图标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幻觉：一本正经地胡说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第一章 从数据到智能：AI 基础知识（P9–34）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编造看似合理、实则错误的内容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地质风险：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代价高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应对：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检索增强、人工复核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它会"一本正经地胡说"，这叫幻觉。写材料还无所谓，可地质结论一旦编错，代价很大。所以要靠"查了资料再说"和人工复核来兜底。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真假难辨的答案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案例：大模型在日常办公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第一章 从数据到智能：AI 基础知识（P9–34）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写通知、拟方案、总结材料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价值：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省时、规范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边界：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结论仍需人把关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说白了，现在最现实的用法就是办公助手——省时、格式规范。但记住，结论一定要人把关。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办公前后对比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通用 ≠ 专业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第一章 从数据到智能：AI 基础知识（P9–34）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18003"/>
            <a:ext cx="10698480" cy="12618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• 通用模型面向大众、泛而不精</a:t>
            </a:r>
          </a:p>
          <a:p>
            <a:pPr>
              <a:spcAft>
                <a:spcPts val="900"/>
              </a:spcAft>
            </a:pP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• 地质专用需要领域数据与空间能力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625596"/>
            <a:ext cx="10762488" cy="164592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771900"/>
            <a:ext cx="64008" cy="135331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717035"/>
            <a:ext cx="10305288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所以一句话——通用的不等于专业的。地质需要的是懂地质、懂空间的专用能力，这就是 WGM 的出发点。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第一章小结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第一章 从数据到智能：AI 基础知识（P9–34）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 i="0">
                <a:solidFill>
                  <a:srgbClr val="1F3864"/>
                </a:solidFill>
                <a:latin typeface="微软雅黑"/>
                <a:ea typeface="微软雅黑"/>
              </a:rPr>
              <a:t>AI 是"从数据找规律的工具"，不是"懂地质的专家"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 i="0">
                <a:solidFill>
                  <a:srgbClr val="1F3864"/>
                </a:solidFill>
                <a:latin typeface="微软雅黑"/>
                <a:ea typeface="微软雅黑"/>
              </a:rPr>
              <a:t>数据质量决定上限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 i="0">
                <a:solidFill>
                  <a:srgbClr val="1F3864"/>
                </a:solidFill>
                <a:latin typeface="微软雅黑"/>
                <a:ea typeface="微软雅黑"/>
              </a:rPr>
              <a:t>通用≠专业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663440"/>
            <a:ext cx="10762488" cy="15544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4809744"/>
            <a:ext cx="64008" cy="126187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754879"/>
            <a:ext cx="1030528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这一章记住三点：AI 是工具不是专家；数据质量决定上限；通用不等于专业。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思考题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第一章 从数据到智能：AI 基础知识（P9–34）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我们单位有哪些数据？质量如何？现在用的 AI，解决了哪些地质问题？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663440"/>
            <a:ext cx="10762488" cy="15544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4809744"/>
            <a:ext cx="64008" cy="126187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754879"/>
            <a:ext cx="1030528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请大家带着两个问题往下听：我们的数据家底怎么样？现在用的 AI，真的解决了地质问题吗？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56816"/>
            <a:ext cx="12191695" cy="54864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1F3864"/>
                </a:solidFill>
                <a:latin typeface="微软雅黑"/>
                <a:ea typeface="微软雅黑"/>
              </a:rPr>
              <a:t>世界地质模型 WGM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48132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5A5A5A"/>
                </a:solidFill>
                <a:latin typeface="微软雅黑"/>
                <a:ea typeface="微软雅黑"/>
              </a:rPr>
              <a:t>面向真实地球的空间智能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743200"/>
            <a:ext cx="10762488" cy="29260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2889504"/>
            <a:ext cx="64008" cy="263347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34640"/>
            <a:ext cx="10305288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第二章是今天的核心，讲我们自己的世界地质模型。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本章导览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537460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24460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2.1 世界模型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1860" y="1554480"/>
            <a:ext cx="2537460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7580" y="1581912"/>
            <a:ext cx="24460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2.2 空间感知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54480"/>
            <a:ext cx="2537460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581912"/>
            <a:ext cx="24460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2.3 GeoSOT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92540" y="1554480"/>
            <a:ext cx="2537460" cy="56692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38260" y="1581912"/>
            <a:ext cx="24460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2.4 WGM 构建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709160"/>
            <a:ext cx="10762488" cy="160020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4855464"/>
            <a:ext cx="64008" cy="130759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800600"/>
            <a:ext cx="10305288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先讲"世界模型"这个概念，再讲大模型为什么不懂空间，然后是我们的空间索引 GeoSOT，最后是 WGM 怎么构建。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什么是世界模型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AI 在"心里"建立一个世界的内部表示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作用：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理解环境、预测变化、支撑决策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先说"世界模型"。简单讲，就是让 AI 在"心里"建立起一个世界的内部表示，能理解环境、预测变化。人做事前，脑子里先有一个世界的样子，机器也一样。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59" y="2377440"/>
            <a:ext cx="4187952" cy="9144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现实世界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8924544" y="3337560"/>
            <a:ext cx="329184" cy="548640"/>
          </a:xfrm>
          <a:prstGeom prst="downArrow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95159" y="3931920"/>
            <a:ext cx="4187952" cy="914400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AI 内部模型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李飞飞与世界模型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806440" cy="1737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李飞飞（ImageNet、空间智能、World Labs）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判断：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语言大模型最大短板是缺乏空间智能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03320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849624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这个概念，国际上最有代表性的是李飞飞。她造了 ImageNet，这两年又提出"空间智能"。她说得很直接：语言大模型最大的短板，就是缺乏空间智能。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人物简介（公开资料，课前核实）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空间智能：AI 的下一站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理解、推理、操作三维空间的能力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从"读文字"到"懂世界"的跃迁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所谓空间智能，就是让 AI 真正理解、推理、操作三维空间。这是从"读文字"到"懂世界"的一跃。对我们地质，这是绝好的启示——因为地质本身就是三维空间问题。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语言智能 → 空间智能 跃迁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通用世界模型：以生成为主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生成可探索、可交互的虚拟三维世界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面向游戏、机器人、仿真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目前通用的世界模型，主要是"生成"——凭空生成一个逼真的三维世界，用在游戏、机器人、仿真上。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生成式 3D 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生成世界的价值与局限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价值：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创造逼真世界用于训练仿真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局限：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生成的是"可能的世界"，不保证客观真实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这很有价值，但它生成的是"可能的世界"，不保证是真实的世界。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生成结果 vs 真实世界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WGM：面向真实地球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目标：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孪生真实地球（含地下）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要求：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客观、可寻址、可验证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我们的 WGM 走的是另一条路——不是生成虚拟世界，而是"孪生"真实的地球，而且是包含地下的三维地质空间。它要求客观、可寻址、可验证。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真实地球 → WGM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生成 vs 孪生（对比）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02352" cy="1645920"/>
          </a:xfrm>
          <a:prstGeom prst="round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36192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生成世界：</a:t>
            </a: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</a:rPr>
              <a:t>想象、创造、"可能"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280160"/>
            <a:ext cx="5102352" cy="1645920"/>
          </a:xfrm>
          <a:prstGeom prst="round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36192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孪生地球：</a:t>
            </a: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</a:rPr>
              <a:t>映射、复刻、"真实"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90672"/>
            <a:ext cx="10744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B78A2E"/>
                </a:solidFill>
                <a:latin typeface="微软雅黑"/>
                <a:ea typeface="微软雅黑"/>
              </a:rPr>
              <a:t>定性=方向相通、定位不同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709160"/>
            <a:ext cx="10762488" cy="160020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4855464"/>
            <a:ext cx="64008" cy="130759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800600"/>
            <a:ext cx="10305288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打个比方：别人造的是"可能的世界"，我们建的是"真实的地球"。方向相通，但定位完全不同。地质只信真实——找矿错一处是浪费，灾害漏判一处是事故。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孪生数字地球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数字孪生：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物理世界的数字化镜像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应用：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监测、分析、预测、决策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WGM：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孪生数字地球的具体实现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这其实就是"数字孪生地球"的思路。WGM 正是孪生数字地球的一个具体实现。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物理地球 ↔ 数字孪生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WGM 的定位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给地质空间做统一索引与智能底座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目标态：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真实、客观、可寻址、可验证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所以 WGM 的定位，是给地质空间做"统一的索引"和"智能的底座"。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两层结构示意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2.1 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世界模型有"生成"与"孪生"两条路径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地质只信真实，WGM 走孪生路线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663440"/>
            <a:ext cx="10762488" cy="15544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4809744"/>
            <a:ext cx="64008" cy="126187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754879"/>
            <a:ext cx="1030528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记住这一句：世界模型有两条路，地质选"真实"那条。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语言大模型的空间盲区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擅长语言，但读不懂空间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问"矿在哪、多深、多大"，往往答非所问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现在讲关键问题——语言大模型的空间盲区。你问它"矿在哪、多深、多大"，它要么含糊，要么编。不是它笨，是它世界里只有文字，没有空间。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模型对空间问题的错误回答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空间盲区的表现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定位错（说不清算不准）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关系丢（距离、邻接、包含混乱）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尺度乱（大小层次分不清）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具体表现为三乱：位置说不清、关系算不对、尺度分不明。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三类错误示意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为什么模型不懂空间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语言模型世界里只有"词"token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空间没被 token 化，模型无从读取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原因回到第一章的 token。语言被切成了 token，所以模型懂话；可空间从没被切成 token，模型自然读不懂。就像一位博学的教授，却说不清"矿在哪、多深、多大"。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文字世界 vs 空间世界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给空间造一门"语言"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把连续的三维空间离散成可推理的 token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类比：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为空间发明一套字母表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那怎么办？办法是——给空间也造一门"语言"，把连续的三维空间，变成模型能处理的 token。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743200"/>
            <a:ext cx="536447" cy="536447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58456" y="2743200"/>
            <a:ext cx="536447" cy="536447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58911" y="2743200"/>
            <a:ext cx="536447" cy="536447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0" y="3343655"/>
            <a:ext cx="536447" cy="536447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58456" y="3343655"/>
            <a:ext cx="536447" cy="536447"/>
          </a:xfrm>
          <a:prstGeom prst="round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58911" y="3343655"/>
            <a:ext cx="536447" cy="536447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0" y="3944111"/>
            <a:ext cx="536447" cy="536447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58456" y="3944111"/>
            <a:ext cx="536447" cy="536447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58911" y="3944111"/>
            <a:ext cx="536447" cy="536447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8869680" y="3465576"/>
            <a:ext cx="685800" cy="292608"/>
          </a:xfrm>
          <a:prstGeom prst="rightArrow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784080" y="3355848"/>
            <a:ext cx="329184" cy="512064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186415" y="3355848"/>
            <a:ext cx="329184" cy="512064"/>
          </a:xfrm>
          <a:prstGeom prst="round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588752" y="3355848"/>
            <a:ext cx="329184" cy="512064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991088" y="3355848"/>
            <a:ext cx="329184" cy="512064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4617720"/>
            <a:ext cx="4736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  <a:latin typeface="微软雅黑"/>
                <a:ea typeface="微软雅黑"/>
              </a:rPr>
              <a:t>空间 → token 序列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空间 token 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把空间位置编码为有限、唯一、可组合的符号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要求：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唯一性、层次性、可计算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具体做法，是把空间位置编码成有限、唯一、可组合的符号——就像给地球每个位置发一个门牌号。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空间离散化示意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语言 token vs 空间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02352" cy="1645920"/>
          </a:xfrm>
          <a:prstGeom prst="round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36192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语言 token：</a:t>
            </a: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</a:rPr>
              <a:t>词/子词，线性序列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280160"/>
            <a:ext cx="5102352" cy="1645920"/>
          </a:xfrm>
          <a:prstGeom prst="round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36192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空间 token：</a:t>
            </a: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</a:rPr>
              <a:t>体素 ID，三维、分层、可寻址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709160"/>
            <a:ext cx="10762488" cy="160020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4855464"/>
            <a:ext cx="64008" cy="130759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800600"/>
            <a:ext cx="10305288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语言 token 是一条线，空间 token 则是三维的、分层的、可寻址的。但本质是一样的：都是模型"思考"的基本单位。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原生 vs 外挂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02352" cy="1645920"/>
          </a:xfrm>
          <a:prstGeom prst="round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36192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外挂：</a:t>
            </a: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</a:rPr>
              <a:t>模型外面挂个坐标查询，仍不懂空间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280160"/>
            <a:ext cx="5102352" cy="1645920"/>
          </a:xfrm>
          <a:prstGeom prst="round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36192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原生：</a:t>
            </a: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</a:rPr>
              <a:t>空间 token 直接进模型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709160"/>
            <a:ext cx="10762488" cy="160020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4855464"/>
            <a:ext cx="64008" cy="130759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800600"/>
            <a:ext cx="10305288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这里有个关键区别。外挂，是在模型外面挂个查询工具，模型本身还是不懂空间；原生，是让空间 token 直接进模型，模型内部就用空间思考。我们选原生。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2.2 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语言模型懂"话"，WGM 还要懂"地方"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关键动作=把空间变成 token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663440"/>
            <a:ext cx="10762488" cy="15544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4809744"/>
            <a:ext cx="64008" cy="126187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754879"/>
            <a:ext cx="1030528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一句话记牢：通用模型懂"话"，WGM 还要懂"地方"。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00000"/>
            <a:ext cx="10332720" cy="8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课间休息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0000"/>
            <a:ext cx="10332720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C9D4E8"/>
                </a:solidFill>
                <a:latin typeface="微软雅黑"/>
                <a:ea typeface="微软雅黑"/>
              </a:rPr>
              <a:t>休息一下，倒计时 10 分钟，请看屏幕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10047" y="1980000"/>
            <a:ext cx="1371600" cy="3810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countdow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847" y="2080000"/>
            <a:ext cx="3900000" cy="3900000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GeoSOT 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地球空间剖分网格标准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对地球表面及空间统一划分与编码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回来接着讲。给空间造语言，我们用的工具叫 GeoSOT——一套地球空间的剖分网格标准，把地球切成规则的小格子并统一编码。可以理解成地球的"邮政编码系统"。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全球网格剖分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GeoSOT 的由来与标准地位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00784"/>
            <a:ext cx="5806440" cy="226771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北京大学提出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国家标准 GB/T 40087–2021《地球空间网格编码规则》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WGM 用其三维扩展 GeoSOT-3D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96849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411480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059935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它由北京大学提出，国家标准是 GB/T 40087–2021《地球空间网格编码规则》。我们在它的基础上做了三维扩展，叫 GeoSOT-3D。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标准框架图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地球剖分网格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按经纬度规则切分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每格唯一编码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从全球到局部可逐级细分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它把地球按经纬度规则切成网格，每一格有唯一编码，还能从全球一直细分到局部。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网格剖分示意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网格的层次结构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分层：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上层粗、下层细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一个上层网格可细分为若干下层网格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这些网格是分层的，上面粗、下面细，一个格子可以往下继续分。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74736" y="1371600"/>
            <a:ext cx="1828800" cy="54864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全球网格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7449312" y="1920240"/>
            <a:ext cx="1639824" cy="731520"/>
          </a:xfrm>
          <a:prstGeom prst="line">
            <a:avLst/>
          </a:prstGeom>
          <a:ln w="19050">
            <a:solidFill>
              <a:srgbClr val="9AB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720840" y="2651760"/>
            <a:ext cx="1456943" cy="502920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大区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89136" y="1920240"/>
            <a:ext cx="0" cy="731520"/>
          </a:xfrm>
          <a:prstGeom prst="line">
            <a:avLst/>
          </a:prstGeom>
          <a:ln w="19050">
            <a:solidFill>
              <a:srgbClr val="9AB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360663" y="2651760"/>
            <a:ext cx="1456943" cy="502920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省区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89136" y="1920240"/>
            <a:ext cx="1639824" cy="731520"/>
          </a:xfrm>
          <a:prstGeom prst="line">
            <a:avLst/>
          </a:prstGeom>
          <a:ln w="19050">
            <a:solidFill>
              <a:srgbClr val="9AB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000488" y="2651760"/>
            <a:ext cx="1456943" cy="502920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矿区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编码：坐标 → 体素 ID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31136"/>
            <a:ext cx="5806440" cy="12070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输入经纬度/平面直角坐标 → 输出 GeoSOT 体素 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438144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584448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29584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所谓"编码"，就是把经纬度或平面直角坐标，算成一个 GeoSOT 体素 ID——好比知道位置，编出门牌号。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063240"/>
            <a:ext cx="1554480" cy="9144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坐标
(经纬度/投影)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65792" y="3063240"/>
            <a:ext cx="1554480" cy="9144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GeoSOT
体素 ID</a:t>
            </a:r>
          </a:p>
        </p:txBody>
      </p:sp>
      <p:sp>
        <p:nvSpPr>
          <p:cNvPr id="12" name="Left-Right Arrow 11"/>
          <p:cNvSpPr/>
          <p:nvPr/>
        </p:nvSpPr>
        <p:spPr>
          <a:xfrm>
            <a:off x="8522207" y="3383280"/>
            <a:ext cx="1133855" cy="274320"/>
          </a:xfrm>
          <a:prstGeom prst="leftRightArrow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3840480"/>
            <a:ext cx="47365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  <a:latin typeface="微软雅黑"/>
                <a:ea typeface="微软雅黑"/>
              </a:rPr>
              <a:t>编码 →   ← 解码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编码示例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44239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335279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输入某点经纬度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8640" y="1554480"/>
            <a:ext cx="3444239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4360" y="1581912"/>
            <a:ext cx="335279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逐级定位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85759" y="1554480"/>
            <a:ext cx="3444239" cy="56692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1480" y="1581912"/>
            <a:ext cx="335279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输出唯一体素 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709160"/>
            <a:ext cx="10762488" cy="160020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4855464"/>
            <a:ext cx="64008" cy="130759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800600"/>
            <a:ext cx="10305288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举例来说：给一个点的经纬度，系统逐级定位，最后输出一个唯一的体素编号。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解码：体素 ID → 坐标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31136"/>
            <a:ext cx="5806440" cy="12070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输入 GeoSOT 体素 ID → 输出地理坐标/投影坐标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438144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584448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29584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反过来，"解码"就是给一个编号，反算出它的位置。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ID → 坐标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编码解码的价值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双向无损映射，可定位、可回算、可复现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空间可寻址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这一对操作的价值在于：位置和编号能双向无损互转，所以空间变得"可寻址"——AI 能精确指到某个位置。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双向箭头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体素：三维像素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三维空间的小立方体单元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像素组成图片，体素组成三维地球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各带唯一 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这些三维小格子叫"体素"。就像像素组成图片，体素组成三维地球，每个都带唯一编号。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6134" y="1907438"/>
            <a:ext cx="751636" cy="751636"/>
          </a:xfrm>
          <a:prstGeom prst="round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00923" y="1907438"/>
            <a:ext cx="751636" cy="751636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25712" y="1907438"/>
            <a:ext cx="751636" cy="751636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950500" y="1907438"/>
            <a:ext cx="751636" cy="751636"/>
          </a:xfrm>
          <a:prstGeom prst="round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76134" y="2732227"/>
            <a:ext cx="751636" cy="751636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00923" y="2732227"/>
            <a:ext cx="751636" cy="751636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25712" y="2732227"/>
            <a:ext cx="751636" cy="751636"/>
          </a:xfrm>
          <a:prstGeom prst="round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950500" y="2732227"/>
            <a:ext cx="751636" cy="751636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76134" y="3557015"/>
            <a:ext cx="751636" cy="751636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00923" y="3557015"/>
            <a:ext cx="751636" cy="751636"/>
          </a:xfrm>
          <a:prstGeom prst="round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25712" y="3557015"/>
            <a:ext cx="751636" cy="751636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950500" y="3557015"/>
            <a:ext cx="751636" cy="751636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6134" y="4381804"/>
            <a:ext cx="751636" cy="751636"/>
          </a:xfrm>
          <a:prstGeom prst="round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00923" y="4381804"/>
            <a:ext cx="751636" cy="751636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25712" y="4381804"/>
            <a:ext cx="751636" cy="751636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50500" y="4381804"/>
            <a:ext cx="751636" cy="751636"/>
          </a:xfrm>
          <a:prstGeom prst="round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5279745"/>
            <a:ext cx="4736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  <a:latin typeface="微软雅黑"/>
                <a:ea typeface="微软雅黑"/>
              </a:rPr>
              <a:t>像素组成图片，体素组成三维地球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体素的邻接与拓扑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邻接可查询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包含、相交、距离可计算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体素之间还能算邻接、包含、距离——这意味着 AI 能做空间关系的推理。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体素邻接示意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3D 八叉树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每个立方体一分为八，逐级细分，树状结构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为了能按需细分，我们用"3D 八叉树"——每个立方体一分为八，再往下分，形成树状结构。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八叉树结构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八叉树递归细分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从大立方体逐层细分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哪里需要精细，就细分到哪里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像树枝分叉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就像树枝分叉：哪里需要精细，就多分几层；哪里简单，就少分。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10551" y="1996135"/>
            <a:ext cx="2957169" cy="2957169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081820" y="1996135"/>
            <a:ext cx="14630" cy="2957169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0551" y="3467404"/>
            <a:ext cx="2957169" cy="1463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44357" y="1996135"/>
            <a:ext cx="10972" cy="1478584"/>
          </a:xfrm>
          <a:prstGeom prst="rect">
            <a:avLst/>
          </a:prstGeom>
          <a:solidFill>
            <a:srgbClr val="7A9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10551" y="2729941"/>
            <a:ext cx="1478584" cy="10972"/>
          </a:xfrm>
          <a:prstGeom prst="rect">
            <a:avLst/>
          </a:prstGeom>
          <a:solidFill>
            <a:srgbClr val="7A9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5090464"/>
            <a:ext cx="4736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  <a:latin typeface="微软雅黑"/>
                <a:ea typeface="微软雅黑"/>
              </a:rPr>
              <a:t>一个立方体一分为八，逐级细分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八叉树与多尺度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粗层：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全局概览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细层：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局部精查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一套结构同时支持多尺度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这样一套结构，同时支持从全局概览到局部精查的多个尺度。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粗细并存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三维：表达地下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传统网格多在地表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八叉树三维，可表达深度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用于钻孔、矿体、构造、含水层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最关键的是——它能把"地下"表达出来。传统网格多在地表，八叉树是三维的，能表达深度，钻孔、矿体、构造都能装进去。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59" y="1645920"/>
            <a:ext cx="4187952" cy="891540"/>
          </a:xfrm>
          <a:prstGeom prst="rect">
            <a:avLst/>
          </a:prstGeom>
          <a:solidFill>
            <a:srgbClr val="ECD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59" y="2583180"/>
            <a:ext cx="4187952" cy="891540"/>
          </a:xfrm>
          <a:prstGeom prst="rect">
            <a:avLst/>
          </a:prstGeom>
          <a:solidFill>
            <a:srgbClr val="DDC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59" y="3520440"/>
            <a:ext cx="4187952" cy="891540"/>
          </a:xfrm>
          <a:prstGeom prst="rect">
            <a:avLst/>
          </a:prstGeom>
          <a:solidFill>
            <a:srgbClr val="C9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95159" y="4457700"/>
            <a:ext cx="4187952" cy="891540"/>
          </a:xfrm>
          <a:prstGeom prst="rect">
            <a:avLst/>
          </a:prstGeom>
          <a:solidFill>
            <a:srgbClr val="B28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04940" y="1508760"/>
            <a:ext cx="54864" cy="3840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59220" y="2041398"/>
            <a:ext cx="146304" cy="146304"/>
          </a:xfrm>
          <a:prstGeom prst="ellipse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59220" y="2978658"/>
            <a:ext cx="146304" cy="146304"/>
          </a:xfrm>
          <a:prstGeom prst="ellipse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59220" y="3915918"/>
            <a:ext cx="146304" cy="146304"/>
          </a:xfrm>
          <a:prstGeom prst="ellipse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59220" y="4853178"/>
            <a:ext cx="146304" cy="146304"/>
          </a:xfrm>
          <a:prstGeom prst="ellipse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5486400"/>
            <a:ext cx="47365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  <a:latin typeface="微软雅黑"/>
                <a:ea typeface="微软雅黑"/>
              </a:rPr>
              <a:t>三维剖分：钻孔、矿体、构造可入地下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多尺度：全国 ↔ 局部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全国概览 ↔ 局部精查，同一编码体系无缝切换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从全国尺度到局部矿区，用同一套编码就能无缝切换。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多尺度网格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与传统 GIS 网格的区别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传统：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二维、地表、规则格子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GeoSOT+八叉树：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三维、含地下、层次自适应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和传统 GIS 网格比，我们的方案是三维的、包含地下、层次自适应的，更贴合地质。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对比表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2.3 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GeoSOT 给地球编地址，八叉树让它三维、多尺度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这是 WGM 的空间索引骨架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663440"/>
            <a:ext cx="10762488" cy="15544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4809744"/>
            <a:ext cx="64008" cy="126187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754879"/>
            <a:ext cx="1030528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一句话：GeoSOT 给地球编地址，八叉树让它三维、多尺度——这就是 WGM 的空间骨架。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WGM 定义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806440" cy="1737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世界地质模型，不是聊天大模型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基于 GeoSOT-3D，原生掌握空间编码/解码与推理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03320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849624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到这里可以正式定义 WGM 了。它是"世界地质模型"，不是聊天大模型。它基于 GeoSOT-3D，原生地掌握空间的编码、解码和推理。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架构简图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三项能力：编码 / 解码 / 推理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编码（坐标→体素 ID）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解码（体素 ID→坐标）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推理（在空间 token 上问答、检索、分析、生成）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它的核心能力就三项：编码、解码，以及在此之上的空间推理。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9089136" y="2148840"/>
            <a:ext cx="0" cy="1371600"/>
          </a:xfrm>
          <a:prstGeom prst="line">
            <a:avLst/>
          </a:prstGeom>
          <a:ln w="19050">
            <a:solidFill>
              <a:srgbClr val="9AB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901295" y="3520440"/>
            <a:ext cx="1187841" cy="685800"/>
          </a:xfrm>
          <a:prstGeom prst="line">
            <a:avLst/>
          </a:prstGeom>
          <a:ln w="19050">
            <a:solidFill>
              <a:srgbClr val="9AB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089136" y="3520440"/>
            <a:ext cx="1187840" cy="685800"/>
          </a:xfrm>
          <a:prstGeom prst="line">
            <a:avLst/>
          </a:prstGeom>
          <a:ln w="19050">
            <a:solidFill>
              <a:srgbClr val="9AB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563356" y="1623060"/>
            <a:ext cx="1051560" cy="1051560"/>
          </a:xfrm>
          <a:prstGeom prst="ellipse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编码</a:t>
            </a:r>
          </a:p>
        </p:txBody>
      </p:sp>
      <p:sp>
        <p:nvSpPr>
          <p:cNvPr id="14" name="Oval 13"/>
          <p:cNvSpPr/>
          <p:nvPr/>
        </p:nvSpPr>
        <p:spPr>
          <a:xfrm>
            <a:off x="7375515" y="3680460"/>
            <a:ext cx="1051560" cy="1051560"/>
          </a:xfrm>
          <a:prstGeom prst="ellipse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解码</a:t>
            </a:r>
          </a:p>
        </p:txBody>
      </p:sp>
      <p:sp>
        <p:nvSpPr>
          <p:cNvPr id="15" name="Oval 14"/>
          <p:cNvSpPr/>
          <p:nvPr/>
        </p:nvSpPr>
        <p:spPr>
          <a:xfrm>
            <a:off x="9751196" y="3680460"/>
            <a:ext cx="1051560" cy="1051560"/>
          </a:xfrm>
          <a:prstGeom prst="ellipse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推理</a:t>
            </a:r>
          </a:p>
        </p:txBody>
      </p:sp>
      <p:sp>
        <p:nvSpPr>
          <p:cNvPr id="16" name="Oval 15"/>
          <p:cNvSpPr/>
          <p:nvPr/>
        </p:nvSpPr>
        <p:spPr>
          <a:xfrm>
            <a:off x="8540496" y="2971800"/>
            <a:ext cx="1097280" cy="1097280"/>
          </a:xfrm>
          <a:prstGeom prst="ellipse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WGM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"原生"的含义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空间不是外挂接口，而是模型的输入输出单位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模型内部直接用空间 token 思考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强调"原生"——空间不是外挂的接口，而是模型的输入输出单位。通用模型把空间当文字读，WGM 把空间当 token 思考。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2011680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原生：空间进模型内部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3840480"/>
            <a:ext cx="4736592" cy="201168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外挂：外部查询，模型仍不懂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从头训练的路线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自研、从头训练的空间原生模型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不借用现成聊天大模型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技术上，这是我们自研、从头训练的空间原生模型，而不是去借用现成的聊天大模型。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训练路线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为什么从头训练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聊天大模型缺空间 token，无法原生理解空间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从头训练才能把空间"长进"模型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为什么非得自己训？因为现成的聊天大模型根本没有空间 token，改也改不出原生空间能力，只能从头把空间"长进"模型里。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为什么需要自研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自主可控与数据安全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自主可控、不惧断供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涉密地质数据不出域、不上云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呼应新质生产力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而且这样做还有一个战略意义：自主可控，数据不出域。地质数据很多是敏感的、涉密的，本地自研模型能让数据不出门，这对我们是硬要求。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自研 vs 依赖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WGM 能力清单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空间编码/解码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空间推理与问答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与地质数据、智能体对接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它的能力清单包括空间编解码、空间推理问答，以及和地质数据、智能体的对接。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能力清单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WGM 与聊天大模型对比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02352" cy="1645920"/>
          </a:xfrm>
          <a:prstGeom prst="round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36192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聊天大模型：</a:t>
            </a: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</a:rPr>
              <a:t>懂话、不懂专业与空间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280160"/>
            <a:ext cx="5102352" cy="1645920"/>
          </a:xfrm>
          <a:prstGeom prst="round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36192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WGM：</a:t>
            </a: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</a:rPr>
              <a:t>世界地质模型，懂空间、面向地质、可寻址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709160"/>
            <a:ext cx="10762488" cy="160020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4855464"/>
            <a:ext cx="64008" cy="130759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800600"/>
            <a:ext cx="10305288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再对比一遍：聊天大模型懂话但不懂空间；WGM 是懂三维地质空间的模型。一句话——WGM 不是"会聊天的 AI"，是"懂地质空间的模型"。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WGM 的技术栈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空间：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GeoSOT-3D+八叉树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模型：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空间原生模型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应用：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智能体、数据仓库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技术上分三层：底层是 GeoSOT-3D 和八叉树，中间是空间原生模型，上面接智能体和数据仓库。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1395984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上层：业务应用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913888"/>
            <a:ext cx="4736592" cy="1395984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中层：空间原生模型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4456176"/>
            <a:ext cx="4736592" cy="1395984"/>
          </a:xfrm>
          <a:prstGeom prst="roundRect">
            <a:avLst/>
          </a:prstGeom>
          <a:solidFill>
            <a:srgbClr val="4A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底层：GeoSOT-3D + 八叉树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WGM 当前进展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WGM v2 已上线（全球+知识库+工作区+智能体）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全球瓦片、矿床三维、知识库、智能体可产图下钻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目前 WGM v2 已经上线运行：有全球可视化、有知识库、有工作区、有智能体，智能体已经能产图、能下钻查看。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进展时间线 / 系统截图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WGM 的局限与挑战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数据覆盖、精度、算力等现实约束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讲清边界更可信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当然也有局限——数据覆盖、精度、算力都还有约束。把边界讲清楚，才更可信。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挑战清单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2.4 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WGM=索引框架+空间原生模型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从"借 AI"到"有 AI"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663440"/>
            <a:ext cx="10762488" cy="15544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4809744"/>
            <a:ext cx="64008" cy="126187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754879"/>
            <a:ext cx="1030528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小结一下：WGM 等于"索引框架 + 空间原生模型"，这是从"借别人的 AI"到"拥有自己的 AI"的转变。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第二章小结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WGM=GeoSOT 索引框架+空间原生模型=真实地球的空间智能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下一步=让它干活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663440"/>
            <a:ext cx="10762488" cy="15544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4809744"/>
            <a:ext cx="64008" cy="126187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754879"/>
            <a:ext cx="1030528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整个第二章一句话：WGM 就是"真实地球的空间智能"。有了会空间语言的模型，下一步就是让它干活——进入第三章。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思考题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第二章 世界地质模型 WGM（P35–86）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我们的空间数据能否统一到一套索引？"数据不出域"意味着什么？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663440"/>
            <a:ext cx="10762488" cy="15544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4809744"/>
            <a:ext cx="64008" cy="126187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754879"/>
            <a:ext cx="1030528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留两个问题给大家：我们的数据能不能统一到一套索引？"数据不出域"对保密工作意味着什么？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56816"/>
            <a:ext cx="12191695" cy="54864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1F3864"/>
                </a:solidFill>
                <a:latin typeface="微软雅黑"/>
                <a:ea typeface="微软雅黑"/>
              </a:rPr>
              <a:t>世界地质模型智能体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48132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5A5A5A"/>
                </a:solidFill>
                <a:latin typeface="微软雅黑"/>
                <a:ea typeface="微软雅黑"/>
              </a:rPr>
              <a:t>从"会答"到"会干"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743200"/>
            <a:ext cx="10762488" cy="29260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2889504"/>
            <a:ext cx="64008" cy="263347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34640"/>
            <a:ext cx="10305288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有了 WGM 这个会空间语言的模型，第三章讲怎么让它真正干活。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本章导览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第三章 世界地质模型智能体（P87–118）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4891"/>
            <a:ext cx="10698480" cy="76809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• 3.1 智能体概述 → 3.2 JevRAG 知识库 → 3.3 数据仓库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378708"/>
            <a:ext cx="10762488" cy="164592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525012"/>
            <a:ext cx="64008" cy="135331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470148"/>
            <a:ext cx="10305288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先讲智能体能干什么，再讲怎么让它"有据可查"，最后讲数据家底。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什么是智能体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第三章 世界地质模型智能体（P87–118）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以大模型为大脑、能自主调用工具完成任务的系统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会"动手"，不只"动嘴"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智能体，就是以模型为大脑、能自己调用工具去完成任务的系统。它不只动嘴，还会动手。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大脑 + 工具 + 记忆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从"会答"到"会干"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第三章 世界地质模型智能体（P87–118）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会答：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给文字回答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会干：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检索、分析、出图、写报告、辅助决策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聊天 AI 只会"答"；智能体能"干"——检索、分析、出图、写报告、辅助决策。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问答图标 → 行动图标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智能体的构成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第三章 世界地质模型智能体（P87–118）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大脑：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WGM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记忆：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数据仓库/知识库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工具：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计算、制图、检索、业务系统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它由三块组成：大脑是 WGM，记忆是数据仓库和知识库，工具是计算、制图、检索这些能力。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1395984"/>
          </a:xfrm>
          <a:prstGeom prst="round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499616"/>
            <a:ext cx="4279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大脑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901952"/>
            <a:ext cx="4279392" cy="774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</a:rPr>
              <a:t>WGM 引擎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2913888"/>
            <a:ext cx="4736592" cy="1395984"/>
          </a:xfrm>
          <a:prstGeom prst="round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3041904"/>
            <a:ext cx="4279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记忆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444240"/>
            <a:ext cx="4279392" cy="774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</a:rPr>
              <a:t>数据仓库 / 知识库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456176"/>
            <a:ext cx="4736592" cy="1395984"/>
          </a:xfrm>
          <a:prstGeom prst="round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4584191"/>
            <a:ext cx="4279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工具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986528"/>
            <a:ext cx="4279392" cy="774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</a:rPr>
              <a:t>计算 / 制图 / 检索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智能体能力图谱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第三章 世界地质模型智能体（P87–118）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36775"/>
            <a:ext cx="5806440" cy="239572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资料检索问答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数据分析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图件报告生成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业务操作辅助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032504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4178808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23944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能力上覆盖：查资料、做分析、出图写报告、辅助操作业务系统。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能力雷达图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一个"地质助手的一天"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第三章 世界地质模型智能体（P87–118）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早：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汇总数据出简报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午：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按问题检索分析出图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晚：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起草报告、归档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想象一个地质助手的一天：早上汇总数据出简报，中午按你的问题查资料、做分析、出图，晚上起草报告、整理归档。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时间轴式场景图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智能体 vs 普通问答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第三章 世界地质模型智能体（P87–118）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02352" cy="1645920"/>
          </a:xfrm>
          <a:prstGeom prst="round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36192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普通问答：</a:t>
            </a: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</a:rPr>
              <a:t>单轮、无数据、易幻觉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280160"/>
            <a:ext cx="5102352" cy="1645920"/>
          </a:xfrm>
          <a:prstGeom prst="round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36192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智能体：</a:t>
            </a: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</a:rPr>
              <a:t>多步、接数据、有工具、可追溯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709160"/>
            <a:ext cx="10762488" cy="160020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4855464"/>
            <a:ext cx="64008" cy="130759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800600"/>
            <a:ext cx="10305288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和普通问答比，智能体是多步的、接了数据的、有工具的，而且过程可追溯。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3.1 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第三章 世界地质模型智能体（P87–118）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智能体=大模型+数据+工具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价值=把"智能"变成"生产力"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663440"/>
            <a:ext cx="10762488" cy="15544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4809744"/>
            <a:ext cx="64008" cy="126187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754879"/>
            <a:ext cx="1030528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一句话：智能体等于大模型加数据加工具，它把"智能"变成了"生产力"。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为什么要 RAG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第三章 世界地质模型智能体（P87–118）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大模型知识旧、泛、会幻觉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地质结论必须"有据可查"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RAG：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先查资料再回答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但智能体要能干活，前提是别瞎编。所以要有 RAG——先查资料，再回答。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模型瞎编 vs 有据可查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幻觉的代价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第三章 世界地质模型智能体（P87–118）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编造矿点、错误数据、虚假引用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后果严重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应对：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检索增强+人工复核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在办公里幻觉无所谓，在地质里可能编出根本不存在的矿点、错误数据，后果严重。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错误结论的代价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RAG 原理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第三章 世界地质模型智能体（P87–118）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44239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335279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8640" y="1554480"/>
            <a:ext cx="3444239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4360" y="1581912"/>
            <a:ext cx="335279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检索资料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85759" y="1554480"/>
            <a:ext cx="3444239" cy="56692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1480" y="1581912"/>
            <a:ext cx="335279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组织答案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10698480" cy="21031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</a:rPr>
              <a:t>• RAG：</a:t>
            </a: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检索增强生成</a:t>
            </a:r>
          </a:p>
          <a:p>
            <a:pPr>
              <a:spcAft>
                <a:spcPts val="9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• 答案基于真实资料，可溯源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709160"/>
            <a:ext cx="10762488" cy="160020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4855464"/>
            <a:ext cx="64008" cy="130759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00600"/>
            <a:ext cx="10305288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RAG 的原理是：拿问题去知识库里检索相关资料，再让模型基于这些真实资料组织答案，答案可溯源。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检索：从问题到资料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第三章 世界地质模型智能体（P87–118）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把问题转成向量，在知识库中找最相关片段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依据语义相似而非字面匹配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检索这一步，是把问题转成向量，去找语义最相近的资料片段——不是死抠字眼，而是找意思相近的。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问题 → 相关片段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生成：从资料到答案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第三章 世界地质模型智能体（P87–118）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检索到的资料作为上下文交给模型生成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输出附来源，便于核对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生成这一步，是把查到的资料作为上下文交给模型，让它据此作答，并附上来源，方便核对。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资料 + 问题 → 答案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语义聚类树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第三章 世界地质模型智能体（P87–118）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用树状结构组织知识，逐层缩小检索范围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更快更准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我们的知识库用"语义聚类树"来组织，逐层缩小范围，检索又快又准。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74736" y="1371600"/>
            <a:ext cx="1828800" cy="54864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知识库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7449312" y="1920240"/>
            <a:ext cx="1639824" cy="731520"/>
          </a:xfrm>
          <a:prstGeom prst="line">
            <a:avLst/>
          </a:prstGeom>
          <a:ln w="19050">
            <a:solidFill>
              <a:srgbClr val="9AB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720840" y="2651760"/>
            <a:ext cx="1456943" cy="502920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主题 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89136" y="1920240"/>
            <a:ext cx="0" cy="731520"/>
          </a:xfrm>
          <a:prstGeom prst="line">
            <a:avLst/>
          </a:prstGeom>
          <a:ln w="19050">
            <a:solidFill>
              <a:srgbClr val="9AB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360663" y="2651760"/>
            <a:ext cx="1456943" cy="502920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主题 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89136" y="1920240"/>
            <a:ext cx="1639824" cy="731520"/>
          </a:xfrm>
          <a:prstGeom prst="line">
            <a:avLst/>
          </a:prstGeom>
          <a:ln w="19050">
            <a:solidFill>
              <a:srgbClr val="9AB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000488" y="2651760"/>
            <a:ext cx="1456943" cy="502920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主题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JevRAG 的构建流程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第三章 世界地质模型智能体（P87–118）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993391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1901951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资料入库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554480"/>
            <a:ext cx="1993391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53511" y="1581912"/>
            <a:ext cx="1901951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切分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554480"/>
            <a:ext cx="1993391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9783" y="1581912"/>
            <a:ext cx="1901951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向量化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554480"/>
            <a:ext cx="1993391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06055" y="1581912"/>
            <a:ext cx="1901951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建语义聚类树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554480"/>
            <a:ext cx="1993391" cy="56692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82328" y="1581912"/>
            <a:ext cx="1901951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检索接口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709160"/>
            <a:ext cx="10762488" cy="160020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4855464"/>
            <a:ext cx="64008" cy="130759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800600"/>
            <a:ext cx="10305288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构建流程是：资料入库、切分、向量化、建语义聚类树，最后开放检索接口。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本地化部署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第三章 世界地质模型智能体（P87–118）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全部在本地/内网运行，不依赖外部云服务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关键是它本地化部署，全在内网跑，不依赖外部云。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本地部署架构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数据不出域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第三章 世界地质模型智能体（P87–118）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涉密与敏感资料不外传，满足安全保密要求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这样涉密、敏感的地质资料就不出域，满足保密要求。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数据边界示意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检索质量优化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第三章 世界地质模型智能体（P87–118）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44239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335279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好资料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8640" y="1554480"/>
            <a:ext cx="3444239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4360" y="1581912"/>
            <a:ext cx="335279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好检索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85759" y="1554480"/>
            <a:ext cx="3444239" cy="56692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1480" y="1581912"/>
            <a:ext cx="335279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好答案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10698480" cy="21031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• 资料质量、切分策略、层级设计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709160"/>
            <a:ext cx="10762488" cy="160020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4855464"/>
            <a:ext cx="64008" cy="130759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00600"/>
            <a:ext cx="10305288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检索质量取决于资料质量、切分策略和层级设计。一句话：好资料才有好答案。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3.2 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第三章 世界地质模型智能体（P87–118）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RAG 让回答"有据可查"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JevRAG=本地化+语义聚类树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663440"/>
            <a:ext cx="10762488" cy="15544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4809744"/>
            <a:ext cx="64008" cy="126187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754879"/>
            <a:ext cx="1030528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小结：RAG 让回答有据可查，我们的 JevRAG 是本地化的、基于语义聚类树的 RAG。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数据仓库是什么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第三章 世界地质模型智能体（P87–118）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把分散、异构的地质数据集中、规范、可用的存储体系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为智能体提供"口粮"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智能体的"口粮"是数据。数据仓库，就是把分散、格式各异的地质数据集中起来、规范化，变成能用的存储体系。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1395984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数据资产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913888"/>
            <a:ext cx="4736592" cy="1395984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数据治理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4456176"/>
            <a:ext cx="4736592" cy="1395984"/>
          </a:xfrm>
          <a:prstGeom prst="roundRect">
            <a:avLst/>
          </a:prstGeom>
          <a:solidFill>
            <a:srgbClr val="4A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原始资料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家底数字化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第三章 世界地质模型智能体（P87–118）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盘点：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有哪些数据、在哪、什么格式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数字化：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纸质、图纸、老资料入库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第一步是盘家底：我们到底有哪些数据、存在哪、什么格式；再把纸质、图纸、老资料数字化入库。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资料 → 数字资产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数据治理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第三章 世界地质模型智能体（P87–118）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统一标准、清洗、去重、标注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建立质量与更新机制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然后是数据治理：统一标准、清洗、去重、标注，并建立更新机制。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治理流程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数据模型与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第三章 世界地质模型智能体（P87–118）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统一的数据结构与字段定义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与 GeoSOT 空间索引挂接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还要统一数据结构和字段，并和 GeoSOT 空间索引挂接起来。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schema 示意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数据是智能体的口粮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第三章 世界地质模型智能体（P87–118）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没有数据，智能体无米下炊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数据越好，智能体越强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请记住：没有数据，智能体无米下炊；数据越好，智能体越强。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数据 → 智能体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数据仓库与 RAG 的关系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第三章 世界地质模型智能体（P87–118）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数据仓库：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原始与结构化资产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RAG：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在其上做检索与问答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数据仓库是底层的资产，RAG 是在它之上做检索和问答。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仓库 + 检索层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建设数据资产的步骤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第三章 世界地质模型智能体（P87–118）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993391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1901951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盘点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554480"/>
            <a:ext cx="1993391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53511" y="1581912"/>
            <a:ext cx="1901951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治理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554480"/>
            <a:ext cx="1993391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9783" y="1581912"/>
            <a:ext cx="1901951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入库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554480"/>
            <a:ext cx="1993391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06055" y="1581912"/>
            <a:ext cx="1901951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挂接索引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554480"/>
            <a:ext cx="1993391" cy="56692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82328" y="1581912"/>
            <a:ext cx="1901951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持续更新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709160"/>
            <a:ext cx="10762488" cy="160020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4855464"/>
            <a:ext cx="64008" cy="130759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800600"/>
            <a:ext cx="10305288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建数据资产五步走：盘点、治理、入库、挂接索引、持续更新。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3.3 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第三章 世界地质模型智能体（P87–118）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先有数据资产，才有智能体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663440"/>
            <a:ext cx="10762488" cy="15544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4809744"/>
            <a:ext cx="64008" cy="126187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754879"/>
            <a:ext cx="1030528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一句话：先有数据资产，才有智能体。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第三章小结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第三章 世界地质模型智能体（P87–118）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智能体=WGM+JevRAG+数据仓库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从"会答"到"会干"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663440"/>
            <a:ext cx="10762488" cy="15544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4809744"/>
            <a:ext cx="64008" cy="126187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754879"/>
            <a:ext cx="1030528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第三章小结：智能体等于 WGM 加 JevRAG 加数据仓库，完成了从"会答"到"会干"。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对单位意味着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第三章 世界地质模型智能体（P87–118）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先盘家底：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有哪些数据、能否数字化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先建知识库，再上智能体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对我们来说，第一步是先盘家底，再建知识库，然后才谈智能体。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清单式要点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扩展思考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第三章 世界地质模型智能体（P87–118）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4891"/>
            <a:ext cx="10698480" cy="76809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• 哪些业务最适合先做智能体？数据准备的投入能否换来效率提升？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378708"/>
            <a:ext cx="10762488" cy="164592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525012"/>
            <a:ext cx="64008" cy="135331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470148"/>
            <a:ext cx="10305288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可以想一想：我们哪块业务最适合先上智能体？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思考题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第三章 世界地质模型智能体（P87–118）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我们最想先让智能体替我们干哪件事？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663440"/>
            <a:ext cx="10762488" cy="15544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4809744"/>
            <a:ext cx="64008" cy="126187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754879"/>
            <a:ext cx="1030528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留一个问题：你最想先让智能体替你干哪件事？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56816"/>
            <a:ext cx="12191695" cy="54864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1F3864"/>
                </a:solidFill>
                <a:latin typeface="微软雅黑"/>
                <a:ea typeface="微软雅黑"/>
              </a:rPr>
              <a:t>世界地质模型智能体网络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48132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5A5A5A"/>
                </a:solidFill>
                <a:latin typeface="微软雅黑"/>
                <a:ea typeface="微软雅黑"/>
              </a:rPr>
              <a:t>从"单兵"到"协同"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743200"/>
            <a:ext cx="10762488" cy="29260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2889504"/>
            <a:ext cx="64008" cy="263347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34640"/>
            <a:ext cx="10305288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第四章讲怎么把一个个智能体连成一张网。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本章导览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第四章 世界地质模型智能体网络（P119–144）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4891"/>
            <a:ext cx="10698480" cy="76809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• 4.1 Pange 应用底座 → 4.2 能力集成 → 4.3 开发底座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378708"/>
            <a:ext cx="10762488" cy="164592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525012"/>
            <a:ext cx="64008" cy="135331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470148"/>
            <a:ext cx="10305288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三件事：统一底座、能力集成、开发底座。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什么是 Pange 超集应用底座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第四章 世界地质模型智能体网络（P119–144）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承载多个智能体与应用、实现互通与协同的统一平台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整合数据、模型、应用、智能体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Pange 是一个统一平台，把数据、模型、应用、智能体整合到一起，让它们互通、协同。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平台总览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Pange 的定位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第四章 世界地质模型智能体网络（P119–144）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地质智能应用的"操作系统"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统一入口、统一调度、统一治理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可以把它理解成地质智能应用的"操作系统"——统一入口、统一调度、统一治理。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定位示意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Pange 总体架构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第四章 世界地质模型智能体网络（P119–144）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底层：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数据与空间索引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中层：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WGM 与智能体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上层：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业务应用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架构分三层：底层是数据和空间索引，中间是 WGM 和智能体，上层是业务应用。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1395984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上层：业务应用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913888"/>
            <a:ext cx="4736592" cy="1395984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中层：WGM 与智能体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4456176"/>
            <a:ext cx="4736592" cy="1395984"/>
          </a:xfrm>
          <a:prstGeom prst="roundRect">
            <a:avLst/>
          </a:prstGeom>
          <a:solidFill>
            <a:srgbClr val="4A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底层：数据与空间索引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Pange 的核心模块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第四章 世界地质模型智能体网络（P119–144）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数据接入、智能体编排、工具市场、权限与安全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核心模块包括数据接入、智能体编排、工具市场、权限与安全。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模块清单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Pange 解决的问题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第四章 世界地质模型智能体网络（P119–144）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避免各自为战、重复建设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让能力可复用、可组合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它要解决的，就是各自为战、重复建设的问题，让能力能复用、能组合。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问题 → 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4.1 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第四章 世界地质模型智能体网络（P119–144）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Pange=智能应用的统一底座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663440"/>
            <a:ext cx="10762488" cy="15544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4809744"/>
            <a:ext cx="64008" cy="126187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754879"/>
            <a:ext cx="1030528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一句话：Pange 是智能应用的统一底座。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WGM 能力如何集成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第四章 世界地质模型智能体网络（P119–144）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31136"/>
            <a:ext cx="5806440" cy="12070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把空间编码/解码/推理封装为可调用能力，供智能体与应用统一调用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438144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584448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29584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把 WGM 的空间能力封装成标准接口，供上面的智能体和应用统一调用。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能力封装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能力接口与协议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第四章 世界地质模型智能体网络（P119–144）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统一接口规范，屏蔽底层差异，便于对接与扩展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用统一的接口规范，屏蔽底层差异，方便对接和扩展。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接口层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能力的可插拔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第四章 世界地质模型智能体网络（P119–144）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新能力像积木一样接入、替换，不牵动整体架构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新能力像积木一样插进来、换出去，不影响整体。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乐高积木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能力的组合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第四章 世界地质模型智能体网络（P119–144）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多个能力编排成业务流程，如检索→分析→出图→成文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多个能力还能编排成业务流程，比如检索、分析、出图、成文一气呵成。</a:t>
            </a:r>
          </a:p>
        </p:txBody>
      </p:sp>
      <p:sp>
        <p:nvSpPr>
          <p:cNvPr id="10" name="Chevron 9"/>
          <p:cNvSpPr/>
          <p:nvPr/>
        </p:nvSpPr>
        <p:spPr>
          <a:xfrm>
            <a:off x="6720840" y="3108960"/>
            <a:ext cx="1149857" cy="1005840"/>
          </a:xfrm>
          <a:prstGeom prst="chevron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检索</a:t>
            </a:r>
          </a:p>
        </p:txBody>
      </p:sp>
      <p:sp>
        <p:nvSpPr>
          <p:cNvPr id="11" name="Chevron 10"/>
          <p:cNvSpPr/>
          <p:nvPr/>
        </p:nvSpPr>
        <p:spPr>
          <a:xfrm>
            <a:off x="7916417" y="3108960"/>
            <a:ext cx="1149857" cy="1005840"/>
          </a:xfrm>
          <a:prstGeom prst="chevron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</a:p>
        </p:txBody>
      </p:sp>
      <p:sp>
        <p:nvSpPr>
          <p:cNvPr id="12" name="Chevron 11"/>
          <p:cNvSpPr/>
          <p:nvPr/>
        </p:nvSpPr>
        <p:spPr>
          <a:xfrm>
            <a:off x="9111996" y="3108960"/>
            <a:ext cx="1149857" cy="1005840"/>
          </a:xfrm>
          <a:prstGeom prst="chevron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出图</a:t>
            </a:r>
          </a:p>
        </p:txBody>
      </p:sp>
      <p:sp>
        <p:nvSpPr>
          <p:cNvPr id="13" name="Chevron 12"/>
          <p:cNvSpPr/>
          <p:nvPr/>
        </p:nvSpPr>
        <p:spPr>
          <a:xfrm>
            <a:off x="10307574" y="3108960"/>
            <a:ext cx="1149857" cy="1005840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成文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集成示例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第四章 世界地质模型智能体网络（P119–144）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一键完成"查资料+空间分析+出报告"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比如，一键完成"查资料、做空间分析、出报告"。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示例流程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4.2 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第四章 世界地质模型智能体网络（P119–144）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能力可插拔、可组合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663440"/>
            <a:ext cx="10762488" cy="15544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4809744"/>
            <a:ext cx="64008" cy="126187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754879"/>
            <a:ext cx="1030528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记住：能力可插拔、可组合。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什么是应用开发底座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第四章 世界地质模型智能体网络（P119–144）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供开发者快速构建地质 AI 应用的平台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提供 SDK、组件、模板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开发底座，是给大家快速搭建地质 AI 应用的平台，提供开发工具、组件和模板。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底座 + 上层应用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二次开发方式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第四章 世界地质模型智能体网络（P119–144）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基于能力接口开发业务应用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低代码/代码两种路径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基于接口做二次开发，可以用低代码，也可以写代码。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开发方式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SDK 与工具链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第四章 世界地质模型智能体网络（P119–144）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提供开发套件与调试工具，降低门槛、加快交付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我们会提供开发套件和调试工具，降低门槛、加快交付。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工具链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应用示例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第四章 世界地质模型智能体网络（P119–144）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找矿靶区圈定、灾害监测、报告生成等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能开发什么应用？找矿靶区圈定、灾害监测、报告生成等等。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应用卡片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避免重复建设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第四章 世界地质模型智能体网络（P119–144）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公共能力统一沉淀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各单位做增量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这样公共能力统一沉淀，各单位只做自己的增量。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共建共享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4.3 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第四章 世界地质模型智能体网络（P119–144）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开发底座让应用"造得快、造得起"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663440"/>
            <a:ext cx="10762488" cy="15544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4809744"/>
            <a:ext cx="64008" cy="126187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754879"/>
            <a:ext cx="1030528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一句话：开发底座让应用造得快、造得起。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第四章小结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第四章 世界地质模型智能体网络（P119–144）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网络把数据、模型、应用、智能体连成一体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663440"/>
            <a:ext cx="10762488" cy="15544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4809744"/>
            <a:ext cx="64008" cy="126187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754879"/>
            <a:ext cx="1030528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第四章小结：网络把数据、模型、应用、智能体连成了一体。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智能体网络的价值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第四章 世界地质模型智能体网络（P119–144）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单点智能→全局协同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能力复用、数据共享、流程贯通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它的价值在于：从单点智能走向全局协同，能力复用、数据共享、流程贯通。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089136" y="3520440"/>
            <a:ext cx="0" cy="1234440"/>
          </a:xfrm>
          <a:prstGeom prst="line">
            <a:avLst/>
          </a:prstGeom>
          <a:ln w="19050">
            <a:solidFill>
              <a:srgbClr val="9AB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915113" y="3520440"/>
            <a:ext cx="1174023" cy="381462"/>
          </a:xfrm>
          <a:prstGeom prst="line">
            <a:avLst/>
          </a:prstGeom>
          <a:ln w="19050">
            <a:solidFill>
              <a:srgbClr val="9AB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8363550" y="2521757"/>
            <a:ext cx="725586" cy="998683"/>
          </a:xfrm>
          <a:prstGeom prst="line">
            <a:avLst/>
          </a:prstGeom>
          <a:ln w="19050">
            <a:solidFill>
              <a:srgbClr val="9AB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089136" y="2521757"/>
            <a:ext cx="725585" cy="998683"/>
          </a:xfrm>
          <a:prstGeom prst="line">
            <a:avLst/>
          </a:prstGeom>
          <a:ln w="19050">
            <a:solidFill>
              <a:srgbClr val="9AB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089136" y="3520440"/>
            <a:ext cx="1174022" cy="381462"/>
          </a:xfrm>
          <a:prstGeom prst="line">
            <a:avLst/>
          </a:prstGeom>
          <a:ln w="19050">
            <a:solidFill>
              <a:srgbClr val="9AB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723376" y="4389120"/>
            <a:ext cx="731520" cy="731520"/>
          </a:xfrm>
          <a:prstGeom prst="ellipse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智能体1</a:t>
            </a:r>
          </a:p>
        </p:txBody>
      </p:sp>
      <p:sp>
        <p:nvSpPr>
          <p:cNvPr id="16" name="Oval 15"/>
          <p:cNvSpPr/>
          <p:nvPr/>
        </p:nvSpPr>
        <p:spPr>
          <a:xfrm>
            <a:off x="7549353" y="3536142"/>
            <a:ext cx="731520" cy="731520"/>
          </a:xfrm>
          <a:prstGeom prst="ellipse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智能体2</a:t>
            </a:r>
          </a:p>
        </p:txBody>
      </p:sp>
      <p:sp>
        <p:nvSpPr>
          <p:cNvPr id="17" name="Oval 16"/>
          <p:cNvSpPr/>
          <p:nvPr/>
        </p:nvSpPr>
        <p:spPr>
          <a:xfrm>
            <a:off x="7997790" y="2155997"/>
            <a:ext cx="731520" cy="731520"/>
          </a:xfrm>
          <a:prstGeom prst="ellipse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智能体3</a:t>
            </a:r>
          </a:p>
        </p:txBody>
      </p:sp>
      <p:sp>
        <p:nvSpPr>
          <p:cNvPr id="18" name="Oval 17"/>
          <p:cNvSpPr/>
          <p:nvPr/>
        </p:nvSpPr>
        <p:spPr>
          <a:xfrm>
            <a:off x="9448961" y="2155997"/>
            <a:ext cx="731520" cy="731520"/>
          </a:xfrm>
          <a:prstGeom prst="ellipse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智能体4</a:t>
            </a:r>
          </a:p>
        </p:txBody>
      </p:sp>
      <p:sp>
        <p:nvSpPr>
          <p:cNvPr id="19" name="Oval 18"/>
          <p:cNvSpPr/>
          <p:nvPr/>
        </p:nvSpPr>
        <p:spPr>
          <a:xfrm>
            <a:off x="9897398" y="3536142"/>
            <a:ext cx="731520" cy="731520"/>
          </a:xfrm>
          <a:prstGeom prst="ellipse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智能体5</a:t>
            </a:r>
          </a:p>
        </p:txBody>
      </p:sp>
      <p:sp>
        <p:nvSpPr>
          <p:cNvPr id="20" name="Oval 19"/>
          <p:cNvSpPr/>
          <p:nvPr/>
        </p:nvSpPr>
        <p:spPr>
          <a:xfrm>
            <a:off x="8631936" y="3063240"/>
            <a:ext cx="914400" cy="914400"/>
          </a:xfrm>
          <a:prstGeom prst="ellipse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Pange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单兵 vs 协同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第四章 世界地质模型智能体网络（P119–144）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02352" cy="1645920"/>
          </a:xfrm>
          <a:prstGeom prst="round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36192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单兵：</a:t>
            </a: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</a:rPr>
              <a:t>各自系统、数据孤岛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280160"/>
            <a:ext cx="5102352" cy="1645920"/>
          </a:xfrm>
          <a:prstGeom prst="round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36192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协同：</a:t>
            </a: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</a:rPr>
              <a:t>统一底座、能力共享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709160"/>
            <a:ext cx="10762488" cy="160020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4855464"/>
            <a:ext cx="64008" cy="130759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800600"/>
            <a:ext cx="10305288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单兵作战就是各自系统、数据孤岛；协同作战则是统一底座、能力共享。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对单位意味着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第四章 世界地质模型智能体网络（P119–144）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避免重复建设，减少投入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一次建设、多单位受益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对我们意味着：避免重复建设、减少投入，一次建设、多单位受益。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清单式要点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扩展性与生态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第四章 世界地质模型智能体网络（P119–144）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开放接口，吸引更多应用接入，形成地质 AI 生态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开放接口后，能吸引更多应用接入，慢慢形成地质 AI 的生态。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生态圈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思考题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第四章 世界地质模型智能体网络（P119–144）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我们单位的系统能否接入统一底座？哪些能力最值得先沉淀？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663440"/>
            <a:ext cx="10762488" cy="15544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4809744"/>
            <a:ext cx="64008" cy="126187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754879"/>
            <a:ext cx="1030528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留两个问题：我们的系统能不能接入统一底座？哪些能力最值得先沉淀？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56816"/>
            <a:ext cx="12191695" cy="54864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1F3864"/>
                </a:solidFill>
                <a:latin typeface="微软雅黑"/>
                <a:ea typeface="微软雅黑"/>
              </a:rPr>
              <a:t>地质单位 AI 能力建设方案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48132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5A5A5A"/>
                </a:solidFill>
                <a:latin typeface="微软雅黑"/>
                <a:ea typeface="微软雅黑"/>
              </a:rPr>
              <a:t>可以带回去开会的方案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743200"/>
            <a:ext cx="10762488" cy="29260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2889504"/>
            <a:ext cx="64008" cy="263347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34640"/>
            <a:ext cx="10305288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最后一章，也是大家最关心的：我们到底怎么建、花多少、从哪起步。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P146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本章导览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537460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24460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5.1 目标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1860" y="1554480"/>
            <a:ext cx="2537460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7580" y="1581912"/>
            <a:ext cx="24460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5.2 覆盖范围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54480"/>
            <a:ext cx="2537460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581912"/>
            <a:ext cx="24460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5.3 方案与预算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92540" y="1554480"/>
            <a:ext cx="2537460" cy="56692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38260" y="1581912"/>
            <a:ext cx="24460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5.4 案例与研讨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709160"/>
            <a:ext cx="10762488" cy="160020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4855464"/>
            <a:ext cx="64008" cy="130759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800600"/>
            <a:ext cx="10305288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分四块：目标、覆盖范围、方案与预算、案例与研讨。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P147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建设愿景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拥有自主可控的地质智能能力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数据资产化、作业智能化、决策科学化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先看愿景：我们要建成自主可控的地质智能能力，实现数据资产化、作业智能化、决策科学化。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愿景图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P148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近期目标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打通数据、搭建 WGM+智能体试点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选取 1–2 个场景落地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近期目标：打通数据，搭起 WGM 和智能体的试点，先选一到两个场景做出来。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近期目标清单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P149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中期目标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场景推广、能力覆盖主要业务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形成数据—模型—应用闭环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中期目标：把场景推广开，能力覆盖主要业务，形成数据到应用到闭环。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中期目标时间线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P150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能力指标体系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效率（作业时间下降）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质量（准确率、一致性）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覆盖（场景数、数据覆盖率）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衡量成效要有指标：效率、质量、覆盖，三个维度。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1395984"/>
          </a:xfrm>
          <a:prstGeom prst="round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499616"/>
            <a:ext cx="4279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效率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901952"/>
            <a:ext cx="4279392" cy="774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</a:rPr>
              <a:t>作业时间下降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2913888"/>
            <a:ext cx="4736592" cy="1395984"/>
          </a:xfrm>
          <a:prstGeom prst="round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3041904"/>
            <a:ext cx="4279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质量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444240"/>
            <a:ext cx="4279392" cy="774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</a:rPr>
              <a:t>准确率、一致性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456176"/>
            <a:ext cx="4736592" cy="1395984"/>
          </a:xfrm>
          <a:prstGeom prst="round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4584191"/>
            <a:ext cx="4279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覆盖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986528"/>
            <a:ext cx="4279392" cy="774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</a:rPr>
              <a:t>场景数、覆盖率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P151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业务场景总览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31136"/>
            <a:ext cx="5806440" cy="12070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找矿预测、地质灾害、测井解释、遥感解译、报告公文、资料管理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438144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584448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29584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能落地的场景有六大类，下面逐一过一遍。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场景矩阵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P152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场景一：找矿预测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痛点：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判读慢、依赖经验、靶区难量化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做法：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物化探+机器学习圈定靶区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第一类，找矿预测。痛点是判读慢、太依赖经验；做法是用物化探数据加机器学习圈定靶区。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靶区圈定示意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P153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找矿预测的实施路径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993391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1901951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数据准备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554480"/>
            <a:ext cx="1993391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53511" y="1581912"/>
            <a:ext cx="1901951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特征构建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554480"/>
            <a:ext cx="1993391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9783" y="1581912"/>
            <a:ext cx="1901951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模型训练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554480"/>
            <a:ext cx="1993391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06055" y="1581912"/>
            <a:ext cx="1901951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靶区输出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554480"/>
            <a:ext cx="1993391" cy="56692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82328" y="1581912"/>
            <a:ext cx="1901951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复核验证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709160"/>
            <a:ext cx="10762488" cy="160020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4855464"/>
            <a:ext cx="64008" cy="130759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800600"/>
            <a:ext cx="10305288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实施路径是：数据准备、特征构建、模型训练、输出靶区，最后由专家复核验证。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P154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场景二：地质灾害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痛点：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隐患点多、监测靠人、预警滞后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做法：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遥感+变化检测自动识别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第二类，地质灾害。隐患点多、靠人监测、预警滞后；可以用遥感加变化检测自动识别。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灾害识别示意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P155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灾害监测的实施路径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993391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1901951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数据接入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554480"/>
            <a:ext cx="1993391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53511" y="1581912"/>
            <a:ext cx="1901951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变化检测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554480"/>
            <a:ext cx="1993391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9783" y="1581912"/>
            <a:ext cx="1901951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隐患识别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554480"/>
            <a:ext cx="1993391" cy="566928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06055" y="1581912"/>
            <a:ext cx="1901951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预警推送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554480"/>
            <a:ext cx="1993391" cy="56692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82328" y="1581912"/>
            <a:ext cx="1901951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复核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709160"/>
            <a:ext cx="10762488" cy="160020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4855464"/>
            <a:ext cx="64008" cy="130759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800600"/>
            <a:ext cx="10305288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路径是：接入数据、变化检测、识别隐患、推送预警，再人工复核。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P156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场景三：测井 / 录井解释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痛点：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依赖专家、效率低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做法：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测井数据自动解释岩性/储层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第三类，测井解释。原来依赖专家、效率低；现在可以自动解释岩性和储层。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测井曲线 + 解释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P157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场景四：遥感解译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痛点：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影像量大、人工解译慢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做法：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岩性、构造、蚀变自动提取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第四类，遥感解译。影像量大、人工慢；可以让 AI 自动提取岩性、构造、蚀变。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遥感影像 + 解译结果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P158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场景五：报告与公文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痛点：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材料多、撰写耗时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做法：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模板+资料自动成稿，人工润色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第五类，报告与公文。材料多、写得累；可以模板加资料自动成稿，人工润色。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写作前后对比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P159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场景六：资料管理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痛点：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资料散、检索难、易丢失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做法：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数字化+知识库+智能检索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第六类，资料管理。资料散、检索难；可以数字化加知识库加智能检索。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检索示意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P160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场景优先级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按"价值×难度"排序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建议先做资料管理、报告公文（易见效）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按价值乘难度排序，建议先做资料管理和报告公文——门槛低、见效快。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优先级矩阵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P161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总体路径：试点 → 推广 → 全域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试点：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小切口快验证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推广：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成功经验复制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全域：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覆盖主要业务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总体路径三步：试点、推广、全域。</a:t>
            </a:r>
          </a:p>
        </p:txBody>
      </p:sp>
      <p:sp>
        <p:nvSpPr>
          <p:cNvPr id="10" name="Chevron 9"/>
          <p:cNvSpPr/>
          <p:nvPr/>
        </p:nvSpPr>
        <p:spPr>
          <a:xfrm>
            <a:off x="6720840" y="3108960"/>
            <a:ext cx="1548384" cy="1005840"/>
          </a:xfrm>
          <a:prstGeom prst="chevron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试点</a:t>
            </a:r>
          </a:p>
        </p:txBody>
      </p:sp>
      <p:sp>
        <p:nvSpPr>
          <p:cNvPr id="11" name="Chevron 10"/>
          <p:cNvSpPr/>
          <p:nvPr/>
        </p:nvSpPr>
        <p:spPr>
          <a:xfrm>
            <a:off x="8314944" y="3108960"/>
            <a:ext cx="1548384" cy="1005840"/>
          </a:xfrm>
          <a:prstGeom prst="chevron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推广</a:t>
            </a:r>
          </a:p>
        </p:txBody>
      </p:sp>
      <p:sp>
        <p:nvSpPr>
          <p:cNvPr id="12" name="Chevron 11"/>
          <p:cNvSpPr/>
          <p:nvPr/>
        </p:nvSpPr>
        <p:spPr>
          <a:xfrm>
            <a:off x="9909048" y="3108960"/>
            <a:ext cx="1548384" cy="1005840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全域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P162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试点阶段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目标：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验证可行性、跑通闭环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范围：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1 个场景、1 个团队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周期约 3–6 个月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试点阶段，目标是把可行性验证出来、闭环跑通，选一个场景一个团队，周期大约三到六个月。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试点示意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P163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推广阶段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目标：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场景扩展、能力沉淀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范围：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多场景、多单位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周期约 6–12 个月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推广阶段，把成功的经验复制到多场景、多单位，周期大约六到十二个月。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推广示意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P164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全域阶段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• 目标：</a:t>
            </a: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全面覆盖、常态化运行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形成数据—模型—应用闭环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全域阶段，实现全面覆盖、常态化运行。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全域示意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P165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组织与人才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组建专班（业务+技术+数据）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培养"懂地质又懂 AI"的复合人才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组织上要组专班，业务、技术、数据一起上，并培养懂地质又懂 AI 的复合人才。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组织架构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P166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合作模式：自建 vs 共建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02352" cy="2286000"/>
          </a:xfrm>
          <a:prstGeom prst="round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36192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自建：</a:t>
            </a: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</a:rPr>
              <a:t>自主可控、周期长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共建：</a:t>
            </a:r>
            <a:r>
              <a:rPr sz="1600" b="0" i="0">
                <a:solidFill>
                  <a:srgbClr val="333333"/>
                </a:solidFill>
                <a:latin typeface="微软雅黑"/>
                <a:ea typeface="微软雅黑"/>
              </a:rPr>
              <a:t>借助外部、见效快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280160"/>
            <a:ext cx="5102352" cy="2286000"/>
          </a:xfrm>
          <a:prstGeom prst="round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36192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建议核心自建、外围共建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709160"/>
            <a:ext cx="10762488" cy="160020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4855464"/>
            <a:ext cx="64008" cy="130759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800600"/>
            <a:ext cx="10305288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合作模式上，自建自主可控但慢，共建见效快但依赖外部。建议核心自建、外围共建。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P167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数据准备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数据盘点、治理、入库、挂接索引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数据是前提，投入要早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数据准备要早投入，这是前提。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数据准备流程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P168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硬件与算力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训练算力、推理算力、存储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可自建或租用（按需）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算力可以按需自建或租用，训练和推理的算力、存储都要规划。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算力构成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P169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预算构成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数据、模型、平台、算力、人才、运维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预算主要花在六块：数据、模型、平台、算力、人才、运维。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552956"/>
            <a:ext cx="1325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数据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69898"/>
            <a:ext cx="851123" cy="458724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18004"/>
            <a:ext cx="1325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234946"/>
            <a:ext cx="654710" cy="458724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3083052"/>
            <a:ext cx="1325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平台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999994"/>
            <a:ext cx="589239" cy="458724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3848099"/>
            <a:ext cx="1325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算力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3765041"/>
            <a:ext cx="523768" cy="458724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4613148"/>
            <a:ext cx="1325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人才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4530090"/>
            <a:ext cx="392826" cy="458724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5378196"/>
            <a:ext cx="1325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微软雅黑"/>
                <a:ea typeface="微软雅黑"/>
              </a:rPr>
              <a:t>运维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5295138"/>
            <a:ext cx="261884" cy="458724"/>
          </a:xfrm>
          <a:prstGeom prst="round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P170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预算区间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按阶段给出区间与思路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小步快跑、分期投入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预算不报死数字，按阶段给区间，强调小步快跑、分期投入。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分期预算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P171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周期规划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试点—推广—全域分步推进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周期上，按试点、推广、全域分步推进。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甘特图（示意）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P172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风险清单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数据不足、效果不达预期、投入超支、人才流失、安全合规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主要风险有：数据不足、效果不达预期、投入超支、人才流失、安全合规。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风险矩阵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P173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风险应对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小切口验证、分期投入、安全内控、培养人才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对策是：小切口验证、分期投入、安全内控、培养人才。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应对表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P174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成效评估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建立量化指标，定期评估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以"是否解决实际问题"为准绳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成效评估要有量化指标、定期评，标准只有一条：是否解决了实际问题。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评估闭环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P175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案例一：湖山铀矿三维可视化成矿预测系统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806440" cy="1737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白岗岩型铀矿三维体素化与成矿预测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GeoSOT-3D 体素化→证据图层→FWoE/logistic/PINN→P(矿)体→靶区→报告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03320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849624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看一个真实案例。这是我们自主做的湖山铀矿三维可视化成矿预测系统。它把地质、物探、钻探等多源数据，用 GeoSOT-3D 统一到三维体素，叠加成矿证据，用证据权、logistic、PINN 等方法算出成矿概率体，圈定靶区并自动出报告。成效是成矿预测与建模效率显著提升。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三维铀矿体 + 钻孔模型 + 概率体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P176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案例二：AI 遥感解译——蚀变信息提取 / 地质灾害参数智能提取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用 AI 替代传统遥感人工解译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蚀变信息提取 + 灾害参数提取并列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第二类应用，是让 AI 替代传统遥感人工解译。一个方向是自动提取矿化蚀变异常，另一个方向是自动提取地质灾害参数。两条线并行推进，能大幅减少人工。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遥感影像 + 蚀变异常图 / 灾害参数图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P177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案例三（展望）：地质资料智能管理与报告辅助生成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未来可做方向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数据仓库+JevRAG 本地检索+智能问答/成稿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第三个还处于展望阶段：把历史资料数字化、建本地知识库，让智能体帮忙查资料、起草报告。这是下一步可以做的方向。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智能检索 / 自动成稿界面（效果示意）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P178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小切口试点建议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5806440" cy="133502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选数据现成、痛点明确、见效快的场景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先跑通，再谈规模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502152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648456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建议从一个小切口开始：数据现成、痛点明确、见效快的场景，先跑通，再谈规模。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试点建议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P179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研讨提纲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我们有哪些数据？哪个场景最该先做？谁来做、多久见效？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下面进入研讨，围绕三个问题：有哪些数据、哪个场景先做、谁来做、多久见效。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研讨问题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P180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现场问答引导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预置问题，引导讨论聚焦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我们准备了几个问题，引导大家聚焦讨论。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问答引导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P181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分组讨论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按业务分组，围绕场景与优先级讨论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请大家按业务分组，围绕场景和优先级讨论。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分组示意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P182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讨论产出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每组产出 1 个试点场景 + 初步方案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每组最后产出一个试点场景和初步方案。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产出模板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P183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落地清单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一件事、一个负责人、一个时间表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落地就三样：一件事、一个负责人、一个时间表。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清单模板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P184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关键成功因素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一把手重视、数据到位、小步快跑、人才保障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成功的关键：一把手重视、数据到位、小步快跑、人才保障。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因素清单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P185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常见误区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贪大求全、重技术轻数据、只买不管、急于求成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要避免几个误区：贪大求全、重技术轻数据、只买不管、急于求成。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误区清单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P186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下一步行动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明确近期三件事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请大家明确近期要做的三件事。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行动卡片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P187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责任分工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领导、业务、技术、数据各自职责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责任要分清：领导、业务、技术、数据各司其职。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分工表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P188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时间表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近期/中期里程碑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按近期、中期排好里程碑。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时间表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P189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资源需求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人、财、物、数据、算力清单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资源上，把人、财、物、数据、算力列成清单。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资源清单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P190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保障措施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组织、制度、安全、经费保障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最后要有组织、制度、安全、经费的保障。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保障清单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P191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第五章小结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小切口试点、分步走，别贪大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663440"/>
            <a:ext cx="10762488" cy="15544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4809744"/>
            <a:ext cx="64008" cy="126187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754879"/>
            <a:ext cx="1030528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第五章一句话：小切口试点、分步走，别贪大。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P192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思考题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第五章 地质单位 AI 能力建设方案（P145–192）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我们单位的第一件事，应该从哪开始？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663440"/>
            <a:ext cx="10762488" cy="15544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4809744"/>
            <a:ext cx="64008" cy="126187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754879"/>
            <a:ext cx="1030528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留一个问题：我们单位的第一件事，从哪开始？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P193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全课回顾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总结与答疑（P193–201）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AI 基础→WGM→智能体→网络→建设方案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663440"/>
            <a:ext cx="10762488" cy="15544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4809744"/>
            <a:ext cx="64008" cy="126187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754879"/>
            <a:ext cx="1030528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回顾今天：从 AI 基础，到 WGM，到智能体，到网络，最后到建设方案。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P194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核心观点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总结与答疑（P193–201）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AI 是工具，数据是基础，空间是关键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地质需要自己的智能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663440"/>
            <a:ext cx="10762488" cy="15544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4809744"/>
            <a:ext cx="64008" cy="126187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754879"/>
            <a:ext cx="1030528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三句话总结：AI 是工具，数据是基础，空间是关键；地质需要有自己的智能。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P195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展望：从世界地质模型到地质超级智能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总结与答疑（P193–201）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806440" cy="186537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AI 从"工具"→"智能体"→"通用智能/超级智能"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WGM 是关键一步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超级智能是方向、不是当下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67328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913632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8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往远看，AI 正从工具走向智能体，走向通用智能。地质的远景，是能自主完成感知、推理、预测、决策的地质智能。WGM 是通向它的一步。但也要清醒：超级智能是方向，不是当下，现阶段仍靠人机协同、人工把关。</a:t>
            </a:r>
          </a:p>
        </p:txBody>
      </p:sp>
      <p:sp>
        <p:nvSpPr>
          <p:cNvPr id="10" name="Chevron 9"/>
          <p:cNvSpPr/>
          <p:nvPr/>
        </p:nvSpPr>
        <p:spPr>
          <a:xfrm>
            <a:off x="6720840" y="3108960"/>
            <a:ext cx="1548384" cy="1005840"/>
          </a:xfrm>
          <a:prstGeom prst="chevron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工具</a:t>
            </a:r>
          </a:p>
        </p:txBody>
      </p:sp>
      <p:sp>
        <p:nvSpPr>
          <p:cNvPr id="11" name="Chevron 10"/>
          <p:cNvSpPr/>
          <p:nvPr/>
        </p:nvSpPr>
        <p:spPr>
          <a:xfrm>
            <a:off x="8314944" y="3108960"/>
            <a:ext cx="1548384" cy="1005840"/>
          </a:xfrm>
          <a:prstGeom prst="chevron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智能体</a:t>
            </a:r>
          </a:p>
        </p:txBody>
      </p:sp>
      <p:sp>
        <p:nvSpPr>
          <p:cNvPr id="12" name="Chevron 11"/>
          <p:cNvSpPr/>
          <p:nvPr/>
        </p:nvSpPr>
        <p:spPr>
          <a:xfrm>
            <a:off x="9909048" y="3108960"/>
            <a:ext cx="1548384" cy="1005840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超级智能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P196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金句页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总结与答疑（P193–201）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AI 不缺共识，缺路径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微软雅黑"/>
                <a:ea typeface="微软雅黑"/>
              </a:rPr>
              <a:t>地质需要自己的智能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663440"/>
            <a:ext cx="10762488" cy="15544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4809744"/>
            <a:ext cx="64008" cy="126187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754879"/>
            <a:ext cx="1030528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最后送大家一句话：AI 不缺共识，缺的是路径；地质，需要属于自己的智能。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P197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行动号召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总结与答疑（P193–201）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从一件事、一个场景开始试点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行动上，就从一件事、一个场景开始。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下一步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P198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关键资源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总结与答疑（P193–201）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数据、模型、平台、人才、合作清单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需要的关键资源：数据、模型、平台、人才、合作，都列在这里。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资源清单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P199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答疑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总结与答疑（P193–201）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Q&amp;A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下面是答疑时间，欢迎提问。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问答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P200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致谢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总结与答疑（P193–201）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谢谢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谢谢大家。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简洁致谢页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P201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微软雅黑"/>
                <a:ea typeface="微软雅黑"/>
              </a:rPr>
              <a:t>封底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371600" cy="4572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</a:rPr>
              <a:t>总结与答疑（P193–201）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32304"/>
            <a:ext cx="5806440" cy="8046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单位 / 联系方式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36976"/>
            <a:ext cx="5897879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3383280"/>
            <a:ext cx="64008" cy="1627632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5440679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333333"/>
                </a:solidFill>
                <a:latin typeface="微软雅黑"/>
                <a:ea typeface="微软雅黑"/>
              </a:rPr>
              <a:t>这是我们的联系方式，欢迎会后交流。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4736592" cy="44805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B9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154680"/>
            <a:ext cx="42793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5"/>
                </a:solidFill>
                <a:latin typeface="微软雅黑"/>
                <a:ea typeface="微软雅黑"/>
              </a:rPr>
              <a:t>〔配图占位〕
与封面呼应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P202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00000"/>
            <a:ext cx="10332720" cy="8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课间休息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0000"/>
            <a:ext cx="10332720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C9D4E8"/>
                </a:solidFill>
                <a:latin typeface="微软雅黑"/>
                <a:ea typeface="微软雅黑"/>
              </a:rPr>
              <a:t>休息一下，倒计时 10 分钟，请看屏幕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10047" y="1980000"/>
            <a:ext cx="1371600" cy="38100"/>
          </a:xfrm>
          <a:prstGeom prst="rect">
            <a:avLst/>
          </a:prstGeom>
          <a:solidFill>
            <a:srgbClr val="B78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countdow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847" y="2080000"/>
            <a:ext cx="3900000" cy="3900000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11155680" y="64282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78A2E"/>
                </a:solidFill>
                <a:latin typeface="微软雅黑"/>
                <a:ea typeface="微软雅黑"/>
              </a:rPr>
              <a:t>P145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