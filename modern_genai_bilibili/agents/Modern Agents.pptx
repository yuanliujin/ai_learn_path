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6"/>
  </p:handoutMasterIdLst>
  <p:sldIdLst>
    <p:sldId id="256" r:id="rId3"/>
    <p:sldId id="266" r:id="rId4"/>
    <p:sldId id="267" r:id="rId5"/>
    <p:sldId id="264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5"/>
    <p:sldId id="277" r:id="rId16"/>
    <p:sldId id="275" r:id="rId17"/>
    <p:sldId id="279" r:id="rId18"/>
    <p:sldId id="278" r:id="rId19"/>
    <p:sldId id="268" r:id="rId20"/>
    <p:sldId id="271" r:id="rId21"/>
    <p:sldId id="272" r:id="rId22"/>
    <p:sldId id="270" r:id="rId23"/>
    <p:sldId id="269" r:id="rId24"/>
    <p:sldId id="27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我有一个暴论，模型的智能的体现就是推理</a:t>
            </a:r>
            <a:r>
              <a:rPr lang="zh-CN" altLang="en-US"/>
              <a:t>能力，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设计</a:t>
            </a:r>
            <a:r>
              <a:rPr lang="en-US" altLang="zh-CN"/>
              <a:t>/</a:t>
            </a:r>
            <a:r>
              <a:rPr lang="zh-CN" altLang="en-US"/>
              <a:t>理解</a:t>
            </a:r>
            <a:r>
              <a:rPr lang="en-US" altLang="zh-CN"/>
              <a:t> langgraph </a:t>
            </a:r>
            <a:r>
              <a:rPr lang="zh-CN" altLang="en-US"/>
              <a:t>的</a:t>
            </a:r>
            <a:r>
              <a:rPr lang="en-US" altLang="zh-CN"/>
              <a:t> graph </a:t>
            </a:r>
            <a:r>
              <a:rPr lang="zh-CN" altLang="en-US"/>
              <a:t>实例其实就是理解虚边，刻画着条件</a:t>
            </a:r>
            <a:r>
              <a:rPr lang="zh-CN" altLang="en-US"/>
              <a:t>分支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lvl="0"/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objects analysis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affordance &amp; actions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actions (objects) combination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affordance &amp; values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objects spatial understanding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人去执行时，也是会先形成一个</a:t>
            </a:r>
            <a:r>
              <a:rPr lang="en-US" altLang="zh-CN">
                <a:sym typeface="+mn-ea"/>
              </a:rPr>
              <a:t> plan </a:t>
            </a:r>
            <a:r>
              <a:rPr lang="zh-CN" altLang="en-US">
                <a:sym typeface="+mn-ea"/>
              </a:rPr>
              <a:t>或者说往前想三步，然后执行第一步；</a:t>
            </a:r>
            <a:br>
              <a:rPr lang="zh-CN" altLang="en-US">
                <a:sym typeface="+mn-ea"/>
              </a:rPr>
            </a:br>
            <a:br>
              <a:rPr lang="zh-CN" altLang="en-US">
                <a:sym typeface="+mn-ea"/>
              </a:rPr>
            </a:br>
            <a:r>
              <a:rPr lang="en-US" altLang="zh-CN" i="1">
                <a:latin typeface="PingFang SC" panose="020B0400000000000000" charset="-122"/>
                <a:ea typeface="PingFang SC" panose="020B0400000000000000" charset="-122"/>
                <a:sym typeface="+mn-ea"/>
              </a:rPr>
              <a:t>LLMs are more effective at goal translation than at actual planning.</a:t>
            </a:r>
            <a:endParaRPr lang="en-US" altLang="zh-CN" i="1">
              <a:latin typeface="PingFang SC" panose="020B0400000000000000" charset="-122"/>
              <a:ea typeface="PingFang SC" panose="020B0400000000000000" charset="-122"/>
            </a:endParaRPr>
          </a:p>
          <a:p>
            <a:endParaRPr lang="zh-CN" altLang="en-US"/>
          </a:p>
          <a:p>
            <a:pPr algn="l"/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https://platform.openai.com/docs/guides/reasoning-best-practices#reasoning-models-vs-gpt-models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*When humans plan, we imagine the possible outcomes of different actions. When we reason about code we simulate part of its execution in our head. *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15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16.png"/><Relationship Id="rId1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17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18.jpe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Modern Agents</a:t>
            </a:r>
            <a:b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 lang="en-US" altLang="zh-CN" sz="4800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an updating ckpt</a:t>
            </a:r>
            <a:endParaRPr lang="en-US" altLang="zh-CN" sz="4800" i="1" spc="0">
              <a:solidFill>
                <a:schemeClr val="tx1"/>
              </a:solidFill>
              <a:uFillTx/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319225"/>
            <a:ext cx="9799200" cy="14724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  <a:latin typeface="仿宋" charset="0"/>
                <a:ea typeface="仿宋" charset="0"/>
                <a:cs typeface="Times New Roman Regular" panose="02020503050405090304" charset="0"/>
              </a:rPr>
              <a:t>五道口纳什</a:t>
            </a:r>
            <a:endParaRPr lang="zh-CN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09/2025</a:t>
            </a:r>
            <a:endParaRPr lang="en-US" altLang="zh-CN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494665"/>
            <a:ext cx="6477635" cy="6216015"/>
          </a:xfrm>
        </p:spPr>
        <p:txBody>
          <a:bodyPr>
            <a:noAutofit/>
          </a:bodyPr>
          <a:p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Foundations: reasoning &amp; planning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probe/utilize/incentivize/leverage/maximize model’s performace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classical workflow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self-critic (generator vs. critic, UCLA IMO)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multi-agents system: Separation of Concern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context engineering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memory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self-evolving: AlphaEvolve, GEPA ...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misc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langchain-langgraph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graph-based methods: neural-symbolic approach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toolset: mcp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test-time scaling: </a:t>
            </a:r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parallel thinking (DeepConf)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05980" y="2354580"/>
            <a:ext cx="3398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不断地在实践中掌握更多行之有效的</a:t>
            </a:r>
            <a:r>
              <a:rPr lang="en-US" altLang="zh-CN"/>
              <a:t> know-how</a:t>
            </a:r>
            <a:r>
              <a:rPr lang="zh-CN" altLang="en-US"/>
              <a:t>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Reasoning 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5125" y="3898900"/>
            <a:ext cx="4705350" cy="2959100"/>
          </a:xfrm>
        </p:spPr>
        <p:txBody>
          <a:bodyPr/>
          <a:p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self-critic: paper-reading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generator: understanding</a:t>
            </a:r>
            <a:endParaRPr lang="en-US" altLang="zh-CN" sz="16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critic: </a:t>
            </a:r>
            <a:r>
              <a:rPr lang="zh-CN" altLang="en-US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广泛地需要推理，从已知中推理出大量的非浅层的新的结论；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08330" y="1798955"/>
            <a:ext cx="4705350" cy="475932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reasoning 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体现着真正的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intelligence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“</a:t>
            </a:r>
            <a:r>
              <a:rPr lang="zh-CN" altLang="en-US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无中生有</a:t>
            </a:r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”</a:t>
            </a:r>
            <a:r>
              <a:rPr lang="zh-CN" altLang="en-US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：如何从已知（</a:t>
            </a:r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limited premises</a:t>
            </a:r>
            <a:r>
              <a:rPr lang="zh-CN" altLang="en-US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）中，沿着推理链，推导出更多更丰富的结论（</a:t>
            </a:r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new conclusions</a:t>
            </a:r>
            <a:r>
              <a:rPr lang="zh-CN" altLang="en-US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）；</a:t>
            </a:r>
            <a:endParaRPr lang="en-US" altLang="zh-CN" sz="16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Agentic 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是对模型智能的兑现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被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impressed 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或者觉得失望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impressed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：推理出来的新知超出预期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失望：低于预期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r>
              <a:rPr lang="zh-CN" altLang="en-US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没有</a:t>
            </a:r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reasoning </a:t>
            </a:r>
            <a:r>
              <a:rPr lang="zh-CN" altLang="en-US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就没有</a:t>
            </a:r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planning (</a:t>
            </a:r>
            <a:r>
              <a:rPr lang="zh-CN" altLang="en-US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分解</a:t>
            </a:r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/think ahead)</a:t>
            </a:r>
            <a:r>
              <a:rPr lang="zh-CN" altLang="en-US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，也不会有</a:t>
            </a:r>
            <a:r>
              <a:rPr lang="en-US" altLang="zh-CN" sz="18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reflection/critic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implicit) long 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cot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9640" y="123190"/>
            <a:ext cx="5800725" cy="40855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Planning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616575" cy="4759325"/>
          </a:xfrm>
        </p:spPr>
        <p:txBody>
          <a:bodyPr/>
          <a:p>
            <a:r>
              <a:rPr lang="en-US" altLang="zh-CN" sz="24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what</a:t>
            </a:r>
            <a:endParaRPr lang="en-US" altLang="zh-CN" sz="24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decomposition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think ahead, think multiple steps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4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why</a:t>
            </a:r>
            <a:endParaRPr lang="en-US" altLang="zh-CN" sz="24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limits of lllm to solve complex queries/tasks (long horizon, multi-hop, multi-interactions)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20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leverage models performance on hard tasks</a:t>
            </a:r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4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how</a:t>
            </a:r>
            <a:endParaRPr lang="en-US" altLang="zh-CN" sz="24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Planning of LLM Agents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3065" y="1313815"/>
            <a:ext cx="4509770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7960" y="5941060"/>
            <a:ext cx="51936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Understanding the planning of LLM agents: A survey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i="1">
                <a:latin typeface="Times New Roman Regular" panose="02020503050405090304" charset="0"/>
                <a:ea typeface="PingFang SC" panose="020B0400000000000000" charset="-122"/>
                <a:cs typeface="Times New Roman Regular" panose="02020503050405090304" charset="0"/>
              </a:rPr>
              <a:t>2402.02716</a:t>
            </a:r>
            <a:endParaRPr lang="en-US" altLang="zh-CN" i="1">
              <a:latin typeface="Times New Roman Regular" panose="02020503050405090304" charset="0"/>
              <a:ea typeface="PingFang SC" panose="020B0400000000000000" charset="-122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03470" y="2503170"/>
            <a:ext cx="6631305" cy="287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Reasoning: Planning, Reflexion,  ...</a:t>
            </a:r>
            <a:endParaRPr lang="en-US" altLang="zh-CN"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Planning</a:t>
            </a:r>
            <a:endParaRPr lang="en-US" altLang="zh-CN"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 indent="457200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(implicit) reasoning models ...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prompt-based: ReAct, Plan-and-</a:t>
            </a:r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Solve, ...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search-based: ToT, LLM+MCTS...</a:t>
            </a:r>
            <a:endParaRPr lang="en-US" altLang="zh-CN"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 indent="457200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test-time scaling: self-consistency, DeepConf...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Neural-Symbolic: DSL/Lean(</a:t>
            </a:r>
            <a:r>
              <a:rPr lang="en-US" altLang="zh-CN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AlphaGeometry)/PDDL ...</a:t>
            </a:r>
            <a:endParaRPr lang="en-US" altLang="zh-CN"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 indent="457200"/>
            <a:r>
              <a:rPr lang="zh-CN" altLang="en-US">
                <a:uFillTx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扬长避短</a:t>
            </a:r>
            <a:endParaRPr lang="zh-CN" altLang="en-US"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065" y="121355"/>
            <a:ext cx="10969200" cy="705600"/>
          </a:xfrm>
        </p:spPr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3 typical cases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9270" y="2444750"/>
            <a:ext cx="4159885" cy="41294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" y="826770"/>
            <a:ext cx="5457825" cy="17278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285" y="3040380"/>
            <a:ext cx="6896735" cy="23856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95315" y="557784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Gemini 2.5 Pro </a:t>
            </a:r>
            <a:r>
              <a:rPr lang="en-US" altLang="zh-CN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Capable </a:t>
            </a:r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of Winning Gold at IMO 2025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i="1">
                <a:latin typeface="Times New Roman Regular" panose="02020503050405090304" charset="0"/>
                <a:ea typeface="PingFang SC" panose="020B0400000000000000" charset="-122"/>
                <a:cs typeface="Times New Roman Regular" panose="02020503050405090304" charset="0"/>
              </a:rPr>
              <a:t>2507.15855</a:t>
            </a:r>
            <a:endParaRPr lang="en-US" altLang="zh-CN" i="1">
              <a:latin typeface="Times New Roman Regular" panose="02020503050405090304" charset="0"/>
              <a:ea typeface="PingFang SC" panose="020B0400000000000000" charset="-122"/>
              <a:cs typeface="Times New Roman Regular" panose="02020503050405090304" charset="0"/>
            </a:endParaRPr>
          </a:p>
          <a:p>
            <a:endParaRPr lang="en-US" altLang="zh-CN" i="1">
              <a:latin typeface="Times New Roman Regular" panose="02020503050405090304" charset="0"/>
              <a:ea typeface="PingFang SC" panose="020B0400000000000000" charset="-122"/>
              <a:cs typeface="Times New Roman Regular" panose="02020503050405090304" charset="0"/>
            </a:endParaRPr>
          </a:p>
          <a:p>
            <a:r>
              <a:rPr lang="en-US" altLang="zh-CN" i="1">
                <a:latin typeface="Times New Roman Regular" panose="02020503050405090304" charset="0"/>
                <a:ea typeface="PingFang SC" panose="020B0400000000000000" charset="-122"/>
                <a:cs typeface="Times New Roman Regular" panose="02020503050405090304" charset="0"/>
              </a:rPr>
              <a:t>design a solid evaluation(critic) prompt</a:t>
            </a:r>
            <a:r>
              <a:rPr lang="en-US" altLang="zh-CN" i="1">
                <a:latin typeface="Times New Roman Regular" panose="02020503050405090304" charset="0"/>
                <a:ea typeface="PingFang SC" panose="020B0400000000000000" charset="-122"/>
                <a:cs typeface="Times New Roman Regular" panose="02020503050405090304" charset="0"/>
              </a:rPr>
              <a:t>s</a:t>
            </a:r>
            <a:endParaRPr lang="en-US" altLang="zh-CN" i="1">
              <a:latin typeface="Times New Roman Regular" panose="02020503050405090304" charset="0"/>
              <a:ea typeface="PingFang SC" panose="020B0400000000000000" charset="-122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195" y="6489700"/>
            <a:ext cx="4046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 Regular" panose="02020503050405090304" charset="0"/>
                <a:cs typeface="Times New Roman Regular" panose="02020503050405090304" charset="0"/>
              </a:rPr>
              <a:t>AlphaGeometry &amp; AlphaGeometry2</a:t>
            </a:r>
            <a:endParaRPr lang="en-US" altLang="zh-C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340995"/>
            <a:ext cx="6234430" cy="26993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Limits of LLM </a:t>
            </a:r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Planning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7535" y="1490345"/>
            <a:ext cx="5498465" cy="4759325"/>
          </a:xfrm>
        </p:spPr>
        <p:txBody>
          <a:bodyPr/>
          <a:p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Planning: complex queries/tasks (long-horizon)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Explicit long term planning (which even really strong LLMs can struggle with)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LLMs are unable to perform accurate reasoning or solve planning problems.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EAI (Embodied Agent Interface)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missing steps &amp; additional step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s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endParaRPr lang="en-US" altLang="zh-CN" sz="20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9185" y="1096010"/>
            <a:ext cx="3965575" cy="39008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70265" y="5066030"/>
            <a:ext cx="2323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>
                <a:latin typeface="PingFang SC" panose="020B0400000000000000" charset="-122"/>
                <a:ea typeface="PingFang SC" panose="020B0400000000000000" charset="-122"/>
              </a:rPr>
              <a:t>llm + p</a:t>
            </a:r>
            <a:endParaRPr lang="en-US" altLang="zh-CN" i="1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ReAct =&gt; Plan-and-Solve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6508750" cy="4759325"/>
          </a:xfrm>
        </p:spPr>
        <p:txBody>
          <a:bodyPr/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ReAct: Reasoning &amp; Acting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complex long-term tasks: context issues ....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&lt;</a:t>
            </a:r>
            <a:r>
              <a:rPr lang="en-US" altLang="zh-CN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thought, tool(action), tool_resp (obs)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&gt; * 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Plan-and-Solve 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generate plan/execute steps (dynamic adaptability)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Zero-shot-CoT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en-US" altLang="zh-CN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Let's think step by step.</a:t>
            </a:r>
            <a:endParaRPr lang="en-US" altLang="zh-CN" i="1" spc="0">
              <a:solidFill>
                <a:schemeClr val="tx1"/>
              </a:solidFill>
              <a:uFillTx/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" panose="02020503050405090304" charset="0"/>
                <a:cs typeface="Times New Roman" panose="02020503050405090304" charset="0"/>
              </a:rPr>
              <a:t>Plan-and-Solve (PS) Prompting</a:t>
            </a:r>
            <a:endParaRPr lang="en-US" altLang="zh-CN" spc="0">
              <a:solidFill>
                <a:schemeClr val="tx1"/>
              </a:solidFill>
              <a:uFillTx/>
              <a:latin typeface="Times New Roman" panose="02020503050405090304" charset="0"/>
              <a:cs typeface="Times New Roman" panose="02020503050405090304" charset="0"/>
            </a:endParaRPr>
          </a:p>
          <a:p>
            <a:pPr lvl="2"/>
            <a:r>
              <a:rPr lang="en-US" altLang="zh-CN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Let's first understand the problem and </a:t>
            </a:r>
            <a:r>
              <a:rPr lang="en-US" altLang="zh-CN" i="1" spc="0">
                <a:solidFill>
                  <a:srgbClr val="FF0000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devise a plan to solve </a:t>
            </a:r>
            <a:r>
              <a:rPr lang="en-US" altLang="zh-CN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the problem. Then, let's </a:t>
            </a:r>
            <a:r>
              <a:rPr lang="en-US" altLang="zh-CN" i="1" spc="0">
                <a:solidFill>
                  <a:srgbClr val="FF0000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carry out the plan</a:t>
            </a:r>
            <a:r>
              <a:rPr lang="en-US" altLang="zh-CN" i="1" spc="0">
                <a:solidFill>
                  <a:schemeClr val="tx1"/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 and solve the problem step by step.</a:t>
            </a:r>
            <a:endParaRPr lang="en-US" altLang="zh-CN" i="1" spc="0">
              <a:solidFill>
                <a:schemeClr val="tx1"/>
              </a:solidFill>
              <a:uFillTx/>
              <a:latin typeface="Times New Roman Italic" panose="02020503050405090304" charset="0"/>
              <a:cs typeface="Times New Roman Italic" panose="02020503050405090304" charset="0"/>
            </a:endParaRPr>
          </a:p>
          <a:p>
            <a:pPr marL="0" lvl="0" indent="0">
              <a:buNone/>
            </a:pP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Dynamic Plan-and-Solve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126355" cy="4759325"/>
          </a:xfrm>
        </p:spPr>
        <p:txBody>
          <a:bodyPr/>
          <a:p>
            <a:r>
              <a:rPr lang="en-US" altLang="zh-CN" i="1" spc="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brain in vat</a:t>
            </a:r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vs. truly interaction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dynamic: revise/replan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plan: list of steps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replan: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raw input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raw plan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past steps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economics</a:t>
            </a:r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Ability to use smaller/weaker models for the execution step, only using larger/better models for the planning step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endParaRPr lang="en-US" altLang="zh-CN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3035" y="137160"/>
            <a:ext cx="3484245" cy="67208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ToT &amp; LATS (mcts)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5910" y="1490345"/>
            <a:ext cx="1871345" cy="4759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20610" y="4727575"/>
            <a:ext cx="32416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 Regular" panose="02020503050405090304" charset="0"/>
                <a:cs typeface="Times New Roman Regular" panose="02020503050405090304" charset="0"/>
              </a:rPr>
              <a:t>selection: UCB</a:t>
            </a:r>
            <a:endParaRPr lang="en-US" altLang="zh-CN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>
                <a:latin typeface="Times New Roman Regular" panose="02020503050405090304" charset="0"/>
                <a:cs typeface="Times New Roman Regular" panose="02020503050405090304" charset="0"/>
              </a:rPr>
              <a:t>expansion:</a:t>
            </a:r>
            <a:endParaRPr lang="en-US" altLang="zh-CN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>
                <a:latin typeface="Times New Roman Regular" panose="02020503050405090304" charset="0"/>
                <a:cs typeface="Times New Roman Regular" panose="02020503050405090304" charset="0"/>
              </a:rPr>
              <a:t>simulation: score</a:t>
            </a:r>
            <a:endParaRPr lang="en-US" altLang="zh-CN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2000">
                <a:latin typeface="Times New Roman Regular" panose="02020503050405090304" charset="0"/>
                <a:cs typeface="Times New Roman Regular" panose="02020503050405090304" charset="0"/>
              </a:rPr>
              <a:t>bp</a:t>
            </a:r>
            <a:endParaRPr lang="en-US" altLang="zh-CN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640" y="1979930"/>
            <a:ext cx="6854190" cy="23488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945" y="232480"/>
            <a:ext cx="10969200" cy="705600"/>
          </a:xfrm>
        </p:spPr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Introducing </a:t>
            </a:r>
            <a:r>
              <a:rPr lang="en-US" altLang="zh-CN" i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Italic" panose="02020503050405090304" charset="0"/>
                <a:cs typeface="Times New Roman Italic" panose="02020503050405090304" charset="0"/>
              </a:rPr>
              <a:t>PDDL</a:t>
            </a:r>
            <a:endParaRPr lang="en-US" altLang="zh-CN" i="1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Italic" panose="02020503050405090304" charset="0"/>
              <a:cs typeface="Times New Roman Italic" panose="0202050305040509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0355" y="585343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Translating Natural Language to Planning Goals with Large-Language Models</a:t>
            </a:r>
            <a:endParaRPr lang="en-US" altLang="zh-CN" sz="1600"/>
          </a:p>
          <a:p>
            <a:r>
              <a:rPr lang="en-US" altLang="zh-CN" sz="1600" i="1">
                <a:latin typeface="PingFang SC" panose="020B0400000000000000" charset="-122"/>
                <a:ea typeface="PingFang SC" panose="020B0400000000000000" charset="-122"/>
              </a:rPr>
              <a:t>2302.05128</a:t>
            </a:r>
            <a:endParaRPr lang="en-US" altLang="zh-CN" sz="1600" i="1"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608330" y="1490345"/>
            <a:ext cx="5208270" cy="4759325"/>
          </a:xfrm>
        </p:spPr>
        <p:txBody>
          <a:bodyPr/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LLMs are unable to perform accurate reasoning or solve planning problems.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LLMs are significantly more adept at translation tasks than at performing planning tasks.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Translation Subtasks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Domain Understanding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Goal Inference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PDDL Goal Specification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2787" t="7509" r="1988" b="4672"/>
          <a:stretch>
            <a:fillRect/>
          </a:stretch>
        </p:blipFill>
        <p:spPr>
          <a:xfrm>
            <a:off x="6872605" y="88900"/>
            <a:ext cx="4415790" cy="18091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090" y="1925955"/>
            <a:ext cx="2496820" cy="36880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630" y="5624195"/>
            <a:ext cx="2238375" cy="10483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Take-aways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6355715" cy="4759325"/>
          </a:xfrm>
        </p:spPr>
        <p:txBody>
          <a:bodyPr/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(explicit) plan is necessary and efficient for complex/long-term problem solving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top-down &amp; bottom-up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z="1600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top-down: decomposition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bottom-up: revise/replan, brige the gap between plan &amp; execution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2"/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缸中之脑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=&gt; 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真实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交互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感知模型的能力及特点，扬长避短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设计合适的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 workflow (proposal-&gt;critic-&gt;refine)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，激励模型的能力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/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表现</a:t>
            </a:r>
            <a:endParaRPr lang="zh-CN" altLang="en-US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/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寻找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/</a:t>
            </a:r>
            <a:r>
              <a:rPr lang="zh-CN" altLang="en-US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封装合适的工具</a:t>
            </a:r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/external solver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0"/>
            <a:r>
              <a:rPr lang="en-US" altLang="zh-CN" spc="0">
                <a:solidFill>
                  <a:schemeClr val="tx1"/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llm &amp; tools &amp; prompts: systemic design</a:t>
            </a:r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图片 3" descr="img_v3_02pm_274c8f7f-826e-4b59-9390-0cdb1c324b9g"/>
          <p:cNvPicPr>
            <a:picLocks noChangeAspect="1"/>
          </p:cNvPicPr>
          <p:nvPr/>
        </p:nvPicPr>
        <p:blipFill>
          <a:blip r:embed="rId1"/>
          <a:srcRect t="4620" b="22157"/>
          <a:stretch>
            <a:fillRect/>
          </a:stretch>
        </p:blipFill>
        <p:spPr>
          <a:xfrm>
            <a:off x="7538720" y="918210"/>
            <a:ext cx="3168650" cy="5021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 spc="0">
                <a:solidFill>
                  <a:schemeClr val="tx1"/>
                </a:solidFill>
                <a:uFillTx/>
                <a:latin typeface="Times New Roman" panose="02020503050405090304" charset="0"/>
                <a:cs typeface="Times New Roman" panose="02020503050405090304" charset="0"/>
              </a:rPr>
              <a:t>Planning Agents</a:t>
            </a:r>
            <a:br>
              <a:rPr lang="en-US" altLang="zh-CN" spc="0">
                <a:solidFill>
                  <a:schemeClr val="tx1"/>
                </a:solidFill>
                <a:uFillTx/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altLang="zh-CN" sz="4800" i="1" spc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Times New Roman" panose="02020503050405090304" charset="0"/>
                <a:cs typeface="Times New Roman" panose="02020503050405090304" charset="0"/>
              </a:rPr>
              <a:t>a typical solution</a:t>
            </a:r>
            <a:endParaRPr lang="en-US" altLang="zh-CN" sz="4800" i="1" spc="0">
              <a:solidFill>
                <a:schemeClr val="tx1">
                  <a:lumMod val="50000"/>
                  <a:lumOff val="50000"/>
                </a:schemeClr>
              </a:solidFill>
              <a:uFillTx/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319225"/>
            <a:ext cx="9799200" cy="14724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  <a:latin typeface="仿宋" charset="0"/>
                <a:ea typeface="仿宋" charset="0"/>
                <a:cs typeface="Times New Roman Regular" panose="02020503050405090304" charset="0"/>
              </a:rPr>
              <a:t>五道口纳什</a:t>
            </a:r>
            <a:endParaRPr lang="zh-CN" altLang="en-US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10/2025</a:t>
            </a:r>
            <a:endParaRPr lang="en-US" altLang="zh-CN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36290"/>
            <a:ext cx="10969200" cy="705600"/>
          </a:xfrm>
        </p:spPr>
        <p:txBody>
          <a:bodyPr/>
          <a:p>
            <a:r>
              <a:rPr lang="en-US" altLang="zh-CN" i="1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503050405090304" charset="0"/>
                <a:cs typeface="Times New Roman" panose="02020503050405090304" charset="0"/>
              </a:rPr>
              <a:t>Dynamic </a:t>
            </a:r>
            <a:r>
              <a:rPr lang="en-US" altLang="zh-CN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 Regular" panose="02020503050405090304" charset="0"/>
                <a:cs typeface="Times New Roman Regular" panose="02020503050405090304" charset="0"/>
              </a:rPr>
              <a:t>Plan-and-Solve</a:t>
            </a:r>
            <a:endParaRPr lang="en-US" altLang="zh-CN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2125" y="1103630"/>
            <a:ext cx="5438140" cy="5622290"/>
          </a:xfrm>
        </p:spPr>
        <p:txBody>
          <a:bodyPr>
            <a:noAutofit/>
          </a:bodyPr>
          <a:p>
            <a:r>
              <a:rPr lang="en-US" altLang="zh-CN" sz="20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Plan-and-Execute</a:t>
            </a:r>
            <a:endParaRPr lang="en-US" altLang="zh-CN" sz="20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Plan: top-down (subgoal) decomposition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output: list of steps (</a:t>
            </a:r>
            <a:r>
              <a:rPr lang="en-US" altLang="zh-CN" sz="1800" b="1" spc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TODO</a:t>
            </a:r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introducing generator-critic mode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Execute: consume a step of plan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outcome/feedbackss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Replan: bottom-up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2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input: raw input/raw plan/past steps</a:t>
            </a:r>
            <a:endParaRPr lang="en-US" altLang="zh-CN" sz="18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2000" i="1" spc="0">
                <a:solidFill>
                  <a:schemeClr val="tx1"/>
                </a:solidFill>
                <a:latin typeface="Times New Roman Italic" panose="02020503050405090304" charset="0"/>
                <a:cs typeface="Times New Roman Italic" panose="02020503050405090304" charset="0"/>
                <a:sym typeface="+mn-ea"/>
              </a:rPr>
              <a:t>brain in vat</a:t>
            </a:r>
            <a:r>
              <a:rPr lang="en-US" altLang="zh-CN" sz="20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vs. truly interaction</a:t>
            </a:r>
            <a:endParaRPr lang="en-US" altLang="zh-CN" sz="20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r>
              <a:rPr lang="en-US" altLang="zh-CN" sz="20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economics</a:t>
            </a:r>
            <a:endParaRPr lang="en-US" altLang="zh-CN" sz="2000" spc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lvl="1"/>
            <a:r>
              <a:rPr lang="en-US" altLang="zh-CN" sz="1800" spc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Ability to use smaller/weaker models for the execution step, only using larger/better models for the planning step</a:t>
            </a:r>
            <a:endParaRPr lang="en-US" altLang="zh-CN" sz="1800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endParaRPr lang="en-US" altLang="zh-CN" spc="0">
              <a:solidFill>
                <a:schemeClr val="tx1"/>
              </a:solidFill>
              <a:uFillTx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545" y="1784985"/>
            <a:ext cx="2454910" cy="4736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4427" t="16525" r="6305" b="13136"/>
          <a:stretch>
            <a:fillRect/>
          </a:stretch>
        </p:blipFill>
        <p:spPr>
          <a:xfrm>
            <a:off x="5930265" y="236220"/>
            <a:ext cx="5734685" cy="16281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35555" y="340995"/>
            <a:ext cx="6515735" cy="61753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todo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structured</a:t>
            </a:r>
            <a:endParaRPr lang="zh-CN" altLang="en-US"/>
          </a:p>
          <a:p>
            <a:r>
              <a:rPr lang="zh-CN" altLang="en-US"/>
              <a:t>泛化性、通用性，</a:t>
            </a:r>
            <a:r>
              <a:rPr lang="en-US" altLang="zh-CN"/>
              <a:t>principle</a:t>
            </a:r>
            <a:r>
              <a:rPr lang="en-US" altLang="zh-CN"/>
              <a:t>d</a:t>
            </a:r>
            <a:endParaRPr lang="en-US" altLang="zh-CN"/>
          </a:p>
          <a:p>
            <a:r>
              <a:rPr lang="en-US" altLang="zh-CN"/>
              <a:t>concise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概念、原理，以及求解问题的思路</a:t>
            </a:r>
            <a:r>
              <a:rPr lang="zh-CN" altLang="en-US"/>
              <a:t>要清晰；</a:t>
            </a:r>
            <a:endParaRPr lang="zh-CN" altLang="en-US"/>
          </a:p>
          <a:p>
            <a:pPr lvl="1"/>
            <a:r>
              <a:rPr lang="en-US" altLang="zh-CN"/>
              <a:t>clean code: code taste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ReAct</a:t>
            </a:r>
            <a:endParaRPr lang="en-US" altLang="zh-CN"/>
          </a:p>
          <a:p>
            <a:r>
              <a:rPr lang="en-US" altLang="zh-CN"/>
              <a:t>create_react_agent</a:t>
            </a:r>
            <a:endParaRPr lang="en-US" altLang="zh-CN"/>
          </a:p>
          <a:p>
            <a:pPr lvl="1"/>
            <a:r>
              <a:rPr lang="en-US" altLang="zh-CN"/>
              <a:t>langchain</a:t>
            </a:r>
            <a:endParaRPr lang="en-US" altLang="zh-CN"/>
          </a:p>
          <a:p>
            <a:pPr lvl="1"/>
            <a:r>
              <a:rPr lang="en-US" altLang="zh-CN"/>
              <a:t>langgraph</a:t>
            </a:r>
            <a:endParaRPr lang="en-US" altLang="zh-CN"/>
          </a:p>
          <a:p>
            <a:pPr lvl="0"/>
            <a:r>
              <a:rPr lang="en-US" altLang="zh-CN"/>
              <a:t>simple </a:t>
            </a:r>
            <a:r>
              <a:rPr lang="en-US" altLang="zh-CN"/>
              <a:t>Reflection vs. </a:t>
            </a:r>
            <a:r>
              <a:rPr lang="en-US" altLang="zh-CN"/>
              <a:t>Reflexion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Reflection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Reflexion: EIA</a:t>
            </a:r>
            <a:endParaRPr lang="en-US" altLang="zh-CN"/>
          </a:p>
          <a:p>
            <a:pPr lvl="1"/>
            <a:r>
              <a:rPr lang="en-US" altLang="zh-CN"/>
              <a:t>error =&gt; improvment =&gt; avoid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390" y="2463800"/>
            <a:ext cx="7414895" cy="42303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443595" y="1490345"/>
            <a:ext cx="3133725" cy="4759325"/>
          </a:xfrm>
        </p:spPr>
        <p:txBody>
          <a:bodyPr/>
          <a:p>
            <a:r>
              <a:rPr lang="zh-CN" altLang="en-US"/>
              <a:t>重点的是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/>
              <a:t>imageine </a:t>
            </a:r>
            <a:r>
              <a:rPr lang="en-US" altLang="zh-CN"/>
              <a:t>action</a:t>
            </a:r>
            <a:endParaRPr lang="en-US" altLang="zh-CN"/>
          </a:p>
          <a:p>
            <a:pPr lvl="1"/>
            <a:r>
              <a:rPr lang="en-US" altLang="zh-CN"/>
              <a:t>imageine env </a:t>
            </a:r>
            <a:r>
              <a:rPr lang="en-US" altLang="zh-CN"/>
              <a:t>feedback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" y="809625"/>
            <a:ext cx="7920990" cy="52393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RAG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pipeline: </a:t>
            </a:r>
            <a:r>
              <a:rPr lang="en-US" altLang="zh-CN">
                <a:sym typeface="+mn-ea"/>
              </a:rPr>
              <a:t>retriever =&gt; ranker =&gt; reranker =&gt; generator</a:t>
            </a:r>
            <a:endParaRPr lang="en-US" altLang="zh-CN"/>
          </a:p>
          <a:p>
            <a:pPr lvl="1"/>
            <a:r>
              <a:rPr lang="en-US" altLang="zh-CN"/>
              <a:t>recall</a:t>
            </a:r>
            <a:endParaRPr lang="en-US" altLang="zh-CN"/>
          </a:p>
          <a:p>
            <a:pPr lvl="1"/>
            <a:r>
              <a:rPr lang="en-US" altLang="zh-CN"/>
              <a:t>benchmark &amp; evaluation</a:t>
            </a:r>
            <a:endParaRPr lang="en-US" altLang="zh-CN"/>
          </a:p>
          <a:p>
            <a:pPr lvl="2"/>
            <a:r>
              <a:rPr lang="en-US" altLang="zh-CN"/>
              <a:t>Fiction.LiveBench</a:t>
            </a:r>
            <a:endParaRPr lang="en-US" altLang="zh-CN"/>
          </a:p>
          <a:p>
            <a:pPr lvl="0"/>
            <a:r>
              <a:rPr lang="en-US" altLang="zh-CN" sz="1800"/>
              <a:t>rank</a:t>
            </a:r>
            <a:r>
              <a:rPr lang="en-US" altLang="zh-CN" sz="1800"/>
              <a:t>er, reranker</a:t>
            </a:r>
            <a:endParaRPr lang="en-US" altLang="zh-CN"/>
          </a:p>
          <a:p>
            <a:pPr lvl="0"/>
            <a:endParaRPr lang="en-US" altLang="zh-CN"/>
          </a:p>
          <a:p>
            <a:pPr lvl="0"/>
            <a:r>
              <a:rPr lang="en-US" altLang="zh-CN"/>
              <a:t>details</a:t>
            </a:r>
            <a:endParaRPr lang="en-US" altLang="zh-CN"/>
          </a:p>
          <a:p>
            <a:pPr lvl="1"/>
            <a:r>
              <a:rPr lang="en-US" altLang="zh-CN"/>
              <a:t>chunking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785485" y="4444365"/>
            <a:ext cx="5080000" cy="1348105"/>
          </a:xfrm>
          <a:prstGeom prst="rect">
            <a:avLst/>
          </a:prstGeom>
        </p:spPr>
        <p:txBody>
          <a:bodyPr>
            <a:spAutoFit/>
          </a:bodyPr>
          <a:p>
            <a:pPr marL="254000" indent="0">
              <a:lnSpc>
                <a:spcPts val="2800"/>
              </a:lnSpc>
              <a:spcBef>
                <a:spcPts val="200"/>
              </a:spcBef>
              <a:spcAft>
                <a:spcPts val="120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Lucida Grande" panose="020B0600040502020204"/>
                <a:ea typeface="Lucida Grande" panose="020B0600040502020204"/>
              </a:rPr>
              <a:t>Searching for Best Practices in Retrieval-Augmented Generation</a:t>
            </a:r>
            <a:endParaRPr lang="en-US" altLang="zh-CN" sz="1600" b="1" i="0">
              <a:solidFill>
                <a:srgbClr val="000000"/>
              </a:solidFill>
              <a:latin typeface="Lucida Grande" panose="020B0600040502020204"/>
              <a:ea typeface="Lucida Grande" panose="020B0600040502020204"/>
            </a:endParaRPr>
          </a:p>
          <a:p>
            <a:pPr marL="254000" indent="0">
              <a:lnSpc>
                <a:spcPts val="2800"/>
              </a:lnSpc>
              <a:spcBef>
                <a:spcPts val="200"/>
              </a:spcBef>
              <a:spcAft>
                <a:spcPts val="120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Lucida Grande" panose="020B0600040502020204"/>
                <a:ea typeface="Lucida Grande" panose="020B0600040502020204"/>
              </a:rPr>
              <a:t>2407.01219</a:t>
            </a:r>
            <a:endParaRPr lang="en-US" altLang="zh-CN" sz="1600" b="1" i="0">
              <a:solidFill>
                <a:srgbClr val="000000"/>
              </a:solidFill>
              <a:latin typeface="Lucida Grande" panose="020B0600040502020204"/>
              <a:ea typeface="Lucida Grande" panose="020B0600040502020204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Ranker </a:t>
            </a:r>
            <a:r>
              <a:rPr lang="zh-CN" altLang="en-US"/>
              <a:t>与</a:t>
            </a:r>
            <a:r>
              <a:rPr lang="en-US" altLang="zh-CN"/>
              <a:t> </a:t>
            </a:r>
            <a:r>
              <a:rPr lang="en-US" altLang="zh-CN"/>
              <a:t>Reranker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BM25/</a:t>
            </a:r>
            <a:r>
              <a:rPr lang="zh-CN" altLang="en-US"/>
              <a:t>向量召回</a:t>
            </a:r>
            <a:r>
              <a:rPr lang="en-US" altLang="zh-CN"/>
              <a:t> N=400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轻排序保留</a:t>
            </a:r>
            <a:r>
              <a:rPr lang="en-US" altLang="zh-CN"/>
              <a:t> M=80 </a:t>
            </a:r>
            <a:r>
              <a:rPr lang="en-US" altLang="en-US"/>
              <a:t>→</a:t>
            </a:r>
            <a:r>
              <a:rPr lang="en-US" altLang="zh-CN"/>
              <a:t> Cross-encoder </a:t>
            </a:r>
            <a:r>
              <a:rPr lang="zh-CN" altLang="en-US"/>
              <a:t>精排取</a:t>
            </a:r>
            <a:r>
              <a:rPr lang="en-US" altLang="zh-CN"/>
              <a:t> k=8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上下文拼接（去重</a:t>
            </a:r>
            <a:r>
              <a:rPr lang="en-US" altLang="zh-CN"/>
              <a:t>+MMR</a:t>
            </a:r>
            <a:r>
              <a:rPr lang="zh-CN" altLang="en-US"/>
              <a:t>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4130</Words>
  <Application>WPS 演示</Application>
  <PresentationFormat>宽屏</PresentationFormat>
  <Paragraphs>202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Times New Roman Regular</vt:lpstr>
      <vt:lpstr>Times New Roman Italic</vt:lpstr>
      <vt:lpstr>仿宋</vt:lpstr>
      <vt:lpstr>方正仿宋_GBK</vt:lpstr>
      <vt:lpstr>PingFang SC</vt:lpstr>
      <vt:lpstr>Times New Roman</vt:lpstr>
      <vt:lpstr>Lucida Grande</vt:lpstr>
      <vt:lpstr>微软雅黑</vt:lpstr>
      <vt:lpstr>汉仪旗黑</vt:lpstr>
      <vt:lpstr>宋体</vt:lpstr>
      <vt:lpstr>Arial Unicode MS</vt:lpstr>
      <vt:lpstr>苹方-简</vt:lpstr>
      <vt:lpstr>Lucida Grande</vt:lpstr>
      <vt:lpstr>汉仪书宋二KW</vt:lpstr>
      <vt:lpstr>WPS</vt:lpstr>
      <vt:lpstr>Modern Agents an updating ckpt</vt:lpstr>
      <vt:lpstr>PowerPoint 演示文稿</vt:lpstr>
      <vt:lpstr>Reasoning </vt:lpstr>
      <vt:lpstr>Planning</vt:lpstr>
      <vt:lpstr>Planning of LLM Agents</vt:lpstr>
      <vt:lpstr>3 typical cases</vt:lpstr>
      <vt:lpstr>Limits of LLM Planning</vt:lpstr>
      <vt:lpstr>ReAct =&gt; Plan-and-Solve</vt:lpstr>
      <vt:lpstr>Dynamic Plan-and-Solve</vt:lpstr>
      <vt:lpstr>ToT &amp; LATS (mcts)</vt:lpstr>
      <vt:lpstr>Introducing PDDL</vt:lpstr>
      <vt:lpstr>Take-aways</vt:lpstr>
      <vt:lpstr>Modern Agents an updating ckpt</vt:lpstr>
      <vt:lpstr>Dynamic Plan-and-Solve</vt:lpstr>
      <vt:lpstr>PowerPoint 演示文稿</vt:lpstr>
      <vt:lpstr>PowerPoint 演示文稿</vt:lpstr>
      <vt:lpstr>PowerPoint 演示文稿</vt:lpstr>
      <vt:lpstr>PowerPoint 演示文稿</vt:lpstr>
      <vt:lpstr>Reflection</vt:lpstr>
      <vt:lpstr>PowerPoint 演示文稿</vt:lpstr>
      <vt:lpstr>RAG</vt:lpstr>
      <vt:lpstr>Ranker 与 Reranker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liyanyu</dc:creator>
  <cp:lastModifiedBy>齐桓晋文之事</cp:lastModifiedBy>
  <cp:revision>412</cp:revision>
  <dcterms:created xsi:type="dcterms:W3CDTF">2025-10-12T10:57:58Z</dcterms:created>
  <dcterms:modified xsi:type="dcterms:W3CDTF">2025-10-12T10:57:58Z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1981796EC299BD0BE00EBC6888C9CD38_41</vt:lpwstr>
  </property>
</Properties>
</file>